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73" r:id="rId31"/>
    <p:sldId id="265" r:id="rId14"/>
    <p:sldId id="274" r:id="rId32"/>
    <p:sldId id="266" r:id="rId15"/>
    <p:sldId id="275" r:id="rId33"/>
    <p:sldId id="264" r:id="rId13"/>
    <p:sldId id="276" r:id="rId34"/>
    <p:sldId id="268" r:id="rId17"/>
    <p:sldId id="271" r:id="rId20"/>
    <p:sldId id="272" r:id="rId21"/>
  </p:sldIdLst>
  <p:sldSz cy="6858000" cx="12192000"/>
  <p:notesSz cx="6858000" cy="12192000"/>
  <p:embeddedFontLst>
    <p:embeddedFont>
      <p:font typeface="Roboto Mono"/>
      <p:regular r:id="rId22"/>
      <p:bold r:id="rId23"/>
      <p:italic r:id="rId24"/>
      <p:boldItalic r:id="rId25"/>
    </p:embeddedFont>
    <p:embeddedFont>
      <p:font typeface="Archivo Black"/>
      <p:regular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3" Type="http://schemas.openxmlformats.org/officeDocument/2006/relationships/slide" Target="slides/slide12.xml"/><Relationship Id="rId14" Type="http://schemas.openxmlformats.org/officeDocument/2006/relationships/slide" Target="slides/slide8.xml"/><Relationship Id="rId15" Type="http://schemas.openxmlformats.org/officeDocument/2006/relationships/slide" Target="slides/slide10.xml"/><Relationship Id="rId17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RobotoMono-regular.fntdata"/><Relationship Id="rId23" Type="http://schemas.openxmlformats.org/officeDocument/2006/relationships/font" Target="fonts/RobotoMono-bold.fntdata"/><Relationship Id="rId24" Type="http://schemas.openxmlformats.org/officeDocument/2006/relationships/font" Target="fonts/RobotoMono-italic.fntdata"/><Relationship Id="rId25" Type="http://schemas.openxmlformats.org/officeDocument/2006/relationships/font" Target="fonts/RobotoMono-boldItalic.fntdata"/><Relationship Id="rId26" Type="http://schemas.openxmlformats.org/officeDocument/2006/relationships/font" Target="fonts/ArchivoBlack-regular.fntdata"/><Relationship Id="rId27" Type="http://schemas.openxmlformats.org/officeDocument/2006/relationships/font" Target="fonts/DMSans-regular.fntdata"/><Relationship Id="rId28" Type="http://schemas.openxmlformats.org/officeDocument/2006/relationships/font" Target="fonts/DMSans-bold.fntdata"/><Relationship Id="rId29" Type="http://schemas.openxmlformats.org/officeDocument/2006/relationships/font" Target="fonts/DMSans-italic.fntdata"/><Relationship Id="rId30" Type="http://schemas.openxmlformats.org/officeDocument/2006/relationships/font" Target="fonts/DMSans-boldItalic.fntdata"/><Relationship Id="rId31" Type="http://schemas.openxmlformats.org/officeDocument/2006/relationships/slide" Target="slides/slide7.xml"/><Relationship Id="rId32" Type="http://schemas.openxmlformats.org/officeDocument/2006/relationships/slide" Target="slides/slide9.xml"/><Relationship Id="rId33" Type="http://schemas.openxmlformats.org/officeDocument/2006/relationships/slide" Target="slides/slide11.xml"/><Relationship Id="rId34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df59d8916_21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adf59d8916_21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adf59d8916_21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a4139ad425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g3a4139ad425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a4139ad425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4139ad425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a4139ad425_0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a4139ad425_0_1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d7d08ee10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ad7d08ee10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ad7d08ee10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a4139ad425_0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g3a4139ad425_0_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a4139ad425_0_1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.png"/><Relationship Id="rId9" Type="http://schemas.openxmlformats.org/officeDocument/2006/relationships/image" Target="../media/image12.png"/><Relationship Id="rId10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image" Target="../media/image42.png"/><Relationship Id="rId9" Type="http://schemas.openxmlformats.org/officeDocument/2006/relationships/image" Target="../media/image48.png"/><Relationship Id="rId10" Type="http://schemas.openxmlformats.org/officeDocument/2006/relationships/image" Target="../media/image39.png"/><Relationship Id="rId11" Type="http://schemas.openxmlformats.org/officeDocument/2006/relationships/image" Target="../media/image47.png"/><Relationship Id="rId12" Type="http://schemas.openxmlformats.org/officeDocument/2006/relationships/image" Target="../media/image11.png"/><Relationship Id="rId13" Type="http://schemas.openxmlformats.org/officeDocument/2006/relationships/image" Target="../media/image19.png"/><Relationship Id="rId14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1.png"/><Relationship Id="rId8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6.png"/><Relationship Id="rId4" Type="http://schemas.openxmlformats.org/officeDocument/2006/relationships/image" Target="../media/image34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2.png"/><Relationship Id="rId4" Type="http://schemas.openxmlformats.org/officeDocument/2006/relationships/image" Target="../media/image57.png"/><Relationship Id="rId5" Type="http://schemas.openxmlformats.org/officeDocument/2006/relationships/image" Target="../media/image67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70.png"/><Relationship Id="rId9" Type="http://schemas.openxmlformats.org/officeDocument/2006/relationships/image" Target="../media/image65.png"/><Relationship Id="rId10" Type="http://schemas.openxmlformats.org/officeDocument/2006/relationships/image" Target="../media/image54.png"/><Relationship Id="rId11" Type="http://schemas.openxmlformats.org/officeDocument/2006/relationships/image" Target="../media/image66.png"/><Relationship Id="rId12" Type="http://schemas.openxmlformats.org/officeDocument/2006/relationships/image" Target="../media/image68.png"/><Relationship Id="rId13" Type="http://schemas.openxmlformats.org/officeDocument/2006/relationships/image" Target="../media/image64.png"/><Relationship Id="rId14" Type="http://schemas.openxmlformats.org/officeDocument/2006/relationships/image" Target="../media/image63.png"/><Relationship Id="rId15" Type="http://schemas.openxmlformats.org/officeDocument/2006/relationships/image" Target="../media/image72.png"/><Relationship Id="rId16" Type="http://schemas.openxmlformats.org/officeDocument/2006/relationships/image" Target="../media/image69.png"/><Relationship Id="rId17" Type="http://schemas.openxmlformats.org/officeDocument/2006/relationships/image" Target="../media/image74.png"/><Relationship Id="rId18" Type="http://schemas.openxmlformats.org/officeDocument/2006/relationships/image" Target="../media/image71.png"/><Relationship Id="rId19" Type="http://schemas.openxmlformats.org/officeDocument/2006/relationships/image" Target="../media/image12.png"/><Relationship Id="rId20" Type="http://schemas.openxmlformats.org/officeDocument/2006/relationships/image" Target="../media/image5.png"/><Relationship Id="rId21" Type="http://schemas.openxmlformats.org/officeDocument/2006/relationships/image" Target="../media/image9.png"/><Relationship Id="rId2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2E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914400" y="1224375"/>
            <a:ext cx="10362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0"/>
              <a:buFont typeface="Archivo Black"/>
              <a:buNone/>
            </a:pPr>
            <a:r>
              <a:rPr lang="en-US" sz="76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PIPELINE</a:t>
            </a:r>
            <a:endParaRPr b="0" i="0" sz="7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914400" y="2166575"/>
            <a:ext cx="92652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0"/>
              <a:buFont typeface="Archivo Black"/>
              <a:buNone/>
            </a:pPr>
            <a:r>
              <a:rPr lang="en-US" sz="4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ENGINEERING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3" title="cybersup-wordmark-blan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10458907" y="4496105"/>
            <a:ext cx="1162200" cy="1410000"/>
          </a:xfrm>
          <a:prstGeom prst="roundRect">
            <a:avLst>
              <a:gd fmla="val 5159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10701607" y="5705974"/>
            <a:ext cx="676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Black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SCAN 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10701593" y="4545949"/>
            <a:ext cx="676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Black"/>
              <a:buNone/>
            </a:pPr>
            <a:r>
              <a:rPr lang="en-US" sz="900">
                <a:latin typeface="Archivo Black"/>
                <a:ea typeface="Archivo Black"/>
                <a:cs typeface="Archivo Black"/>
                <a:sym typeface="Archivo Black"/>
              </a:rPr>
              <a:t>SYLLABUS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M2 Big Data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14400" y="5705856"/>
            <a:ext cx="10362900" cy="9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10459000" y="5124000"/>
            <a:ext cx="116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31412"/>
                </a:solidFill>
                <a:highlight>
                  <a:srgbClr val="F8F9FA"/>
                </a:highlight>
                <a:latin typeface="Roboto Mono"/>
                <a:ea typeface="Roboto Mono"/>
                <a:cs typeface="Roboto Mono"/>
                <a:sym typeface="Roboto Mono"/>
              </a:rPr>
              <a:t>LOGO</a:t>
            </a:r>
            <a:endParaRPr/>
          </a:p>
        </p:txBody>
      </p:sp>
      <p:pic>
        <p:nvPicPr>
          <p:cNvPr id="26" name="Google Shape;26;p3" title="cybersup-logo-symbole-original-monochrome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2E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571500" y="381305"/>
            <a:ext cx="11048700" cy="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571500" y="629107"/>
            <a:ext cx="39348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chivo Black"/>
              <a:buNone/>
            </a:pPr>
            <a:r>
              <a:rPr b="0" i="0" lang="en-US" sz="27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VOTRE FORMATEUR</a:t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067812" y="1314907"/>
            <a:ext cx="9000" cy="38103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571501" y="3466875"/>
            <a:ext cx="2239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800"/>
              <a:buFont typeface="Archivo Black"/>
              <a:buNone/>
            </a:pPr>
            <a:r>
              <a:rPr lang="en-US" sz="1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Nom Formateur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571492" y="3862645"/>
            <a:ext cx="211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Expert en Cybersécurité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67861" y="4334698"/>
            <a:ext cx="2190900" cy="342900"/>
          </a:xfrm>
          <a:prstGeom prst="roundRect">
            <a:avLst>
              <a:gd fmla="val 266667" name="adj"/>
            </a:avLst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566" y="442979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/>
        </p:nvSpPr>
        <p:spPr>
          <a:xfrm>
            <a:off x="986656" y="4420651"/>
            <a:ext cx="1719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DM Sans"/>
              <a:buNone/>
            </a:pPr>
            <a:r>
              <a:rPr lang="en-US" sz="1000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email@mail.com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67861" y="4791898"/>
            <a:ext cx="2190900" cy="342900"/>
          </a:xfrm>
          <a:prstGeom prst="roundRect">
            <a:avLst>
              <a:gd fmla="val 266667" name="adj"/>
            </a:avLst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4">
            <a:alphaModFix/>
          </a:blip>
          <a:srcRect b="-50" l="0" r="0" t="-40"/>
          <a:stretch/>
        </p:blipFill>
        <p:spPr>
          <a:xfrm>
            <a:off x="728544" y="4886995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/>
          <p:nvPr/>
        </p:nvSpPr>
        <p:spPr>
          <a:xfrm>
            <a:off x="988556" y="4871756"/>
            <a:ext cx="16056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DM Sans"/>
              <a:buNone/>
            </a:pPr>
            <a:r>
              <a:rPr lang="en-US" sz="1000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linkedin.com/formateur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3678631" y="1352398"/>
            <a:ext cx="13863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BIOGRAPHIE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3678625" y="1632601"/>
            <a:ext cx="78018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Plus de 15 ans d'expérience en sécurité offensive et défensive. Spécialisé dans les tests d'intrusion, la réponse aux incidents et la sécurisation des infrastructures critiques. A accompagné plus de 50 entreprises du Fortune 500 dans leur stratégie de cyber-résilience. Passionné par la transmission de connaissances et la formation des futures générations d'experts.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3678631" y="3411623"/>
            <a:ext cx="18534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EXPÉRIENCE CLÉ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3705175" y="3802075"/>
            <a:ext cx="31107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Chef de projet SOC - Banque Internationale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3705175" y="4430275"/>
            <a:ext cx="311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Lead Pentester - Infrastructures Cloud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3705174" y="4801499"/>
            <a:ext cx="3110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Formateur certifié Blue &amp; Red Team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3705186" y="5173671"/>
            <a:ext cx="311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Consultant en gestion de crise cyber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7839045" y="3411172"/>
            <a:ext cx="18051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CERTIFICATIONS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839045" y="3791562"/>
            <a:ext cx="3743700" cy="552300"/>
          </a:xfrm>
          <a:prstGeom prst="roundRect">
            <a:avLst>
              <a:gd fmla="val 22836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0894" y="3972613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/>
          <p:nvPr/>
        </p:nvSpPr>
        <p:spPr>
          <a:xfrm>
            <a:off x="8305389" y="3905862"/>
            <a:ext cx="909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rPr>
              <a:t>CEH &amp; OSCP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8305389" y="4086913"/>
            <a:ext cx="1067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Offensive Security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839045" y="4458160"/>
            <a:ext cx="3743700" cy="552300"/>
          </a:xfrm>
          <a:prstGeom prst="roundRect">
            <a:avLst>
              <a:gd fmla="val 22836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0894" y="4639211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 txBox="1"/>
          <p:nvPr/>
        </p:nvSpPr>
        <p:spPr>
          <a:xfrm>
            <a:off x="8305389" y="4572460"/>
            <a:ext cx="1614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rPr>
              <a:t>ISO 27001 Lead Auditor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8305389" y="4753511"/>
            <a:ext cx="4866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PECout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839045" y="5125672"/>
            <a:ext cx="3743700" cy="552300"/>
          </a:xfrm>
          <a:prstGeom prst="roundRect">
            <a:avLst>
              <a:gd fmla="val 22836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7">
            <a:alphaModFix/>
          </a:blip>
          <a:srcRect b="0" l="-1652" r="-1642" t="0"/>
          <a:stretch/>
        </p:blipFill>
        <p:spPr>
          <a:xfrm>
            <a:off x="8000894" y="5305808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 txBox="1"/>
          <p:nvPr/>
        </p:nvSpPr>
        <p:spPr>
          <a:xfrm>
            <a:off x="8286187" y="5239972"/>
            <a:ext cx="16725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DM Sans"/>
              <a:buNone/>
            </a:pPr>
            <a:r>
              <a:rPr b="1" lang="en-US" sz="1000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rPr>
              <a:t>DevOps Foundation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8286187" y="5420108"/>
            <a:ext cx="10479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Microsoft AZ-500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71500" y="5935791"/>
            <a:ext cx="11048700" cy="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4"/>
          <p:cNvPicPr preferRelativeResize="0"/>
          <p:nvPr/>
        </p:nvPicPr>
        <p:blipFill rotWithShape="1">
          <a:blip r:embed="rId8">
            <a:alphaModFix/>
          </a:blip>
          <a:srcRect b="34939" l="0" r="0" t="-1606"/>
          <a:stretch/>
        </p:blipFill>
        <p:spPr>
          <a:xfrm>
            <a:off x="606486" y="1343438"/>
            <a:ext cx="1790400" cy="1790400"/>
          </a:xfrm>
          <a:prstGeom prst="ellipse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5" name="Google Shape;65;p4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4" title="cybersup-wordmark-blanc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4" title="cybersup-logo-symbole-original-monochrome-1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47">
            <a:alpha val="88050"/>
          </a:srgbClr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/>
        </p:nvSpPr>
        <p:spPr>
          <a:xfrm>
            <a:off x="914400" y="981636"/>
            <a:ext cx="476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1638605" y="981636"/>
            <a:ext cx="2048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n8n &amp; FONDATIONS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914400" y="1533934"/>
            <a:ext cx="6099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1638605" y="1533934"/>
            <a:ext cx="55158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UTILISATION INCORRECTE DU n8n &amp; FONDATIONS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914400" y="2087146"/>
            <a:ext cx="543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1638605" y="2087146"/>
            <a:ext cx="31437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AIRFLOW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914400" y="2639443"/>
            <a:ext cx="5532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1638605" y="2639443"/>
            <a:ext cx="2829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dbt &amp; PREFECT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914400" y="3191741"/>
            <a:ext cx="5532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1638605" y="3191741"/>
            <a:ext cx="3905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DM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PRODUCTION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914400" y="4224528"/>
            <a:ext cx="7696505" cy="123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Archivo Black"/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SOMMAIRE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914400" y="5705856"/>
            <a:ext cx="10362895" cy="914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191500" y="1000348"/>
            <a:ext cx="38400" cy="26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8381695" y="1028694"/>
            <a:ext cx="2210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chivo Black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APERÇU DU COURS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8191500" y="1392691"/>
            <a:ext cx="3396000" cy="16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Formation de 5 jours pour construire un pipeline data complet avec n8n, Python, Airflow, dbt et Prefect.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191500" y="3053684"/>
            <a:ext cx="381300" cy="381300"/>
          </a:xfrm>
          <a:prstGeom prst="roundRect">
            <a:avLst>
              <a:gd fmla="val 239808" name="adj"/>
            </a:avLst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3167984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 txBox="1"/>
          <p:nvPr/>
        </p:nvSpPr>
        <p:spPr>
          <a:xfrm>
            <a:off x="8724595" y="3139637"/>
            <a:ext cx="1858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None/>
            </a:pPr>
            <a:r>
              <a:rPr b="1" lang="en-US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5 jours de </a:t>
            </a: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présentation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191500" y="3587693"/>
            <a:ext cx="381300" cy="381300"/>
          </a:xfrm>
          <a:prstGeom prst="roundRect">
            <a:avLst>
              <a:gd fmla="val 239808" name="adj"/>
            </a:avLst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5"/>
          <p:cNvPicPr preferRelativeResize="0"/>
          <p:nvPr/>
        </p:nvPicPr>
        <p:blipFill rotWithShape="1">
          <a:blip r:embed="rId4">
            <a:alphaModFix/>
          </a:blip>
          <a:srcRect b="0" l="-30" r="-40" t="0"/>
          <a:stretch/>
        </p:blipFill>
        <p:spPr>
          <a:xfrm>
            <a:off x="8296656" y="3701993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/>
          <p:nvPr/>
        </p:nvSpPr>
        <p:spPr>
          <a:xfrm>
            <a:off x="8724595" y="3672733"/>
            <a:ext cx="1324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35 heures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5" title="cybersup-wordmark-blanc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0458907" y="4496105"/>
            <a:ext cx="1162200" cy="1410000"/>
          </a:xfrm>
          <a:prstGeom prst="roundRect">
            <a:avLst>
              <a:gd fmla="val 5159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 txBox="1"/>
          <p:nvPr/>
        </p:nvSpPr>
        <p:spPr>
          <a:xfrm>
            <a:off x="10701607" y="5705974"/>
            <a:ext cx="676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Black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SCAN 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0701593" y="4545949"/>
            <a:ext cx="676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Black"/>
              <a:buNone/>
            </a:pPr>
            <a:r>
              <a:rPr lang="en-US" sz="900">
                <a:latin typeface="Archivo Black"/>
                <a:ea typeface="Archivo Black"/>
                <a:cs typeface="Archivo Black"/>
                <a:sym typeface="Archivo Black"/>
              </a:rPr>
              <a:t>SYLLABUS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914400" y="5705856"/>
            <a:ext cx="10362900" cy="9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10459000" y="5124000"/>
            <a:ext cx="116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31412"/>
                </a:solidFill>
                <a:highlight>
                  <a:srgbClr val="F8F9FA"/>
                </a:highlight>
                <a:latin typeface="Roboto Mono"/>
                <a:ea typeface="Roboto Mono"/>
                <a:cs typeface="Roboto Mono"/>
                <a:sym typeface="Roboto Mono"/>
              </a:rPr>
              <a:t>n8n &amp; FONDATIONS</a:t>
            </a:r>
            <a:endParaRPr/>
          </a:p>
        </p:txBody>
      </p:sp>
      <p:pic>
        <p:nvPicPr>
          <p:cNvPr id="103" name="Google Shape;103;p5" title="cybersup-logo-symbole-original-monochrome-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 title="cybersup-connecteur-gradien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9165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AE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/>
        </p:nvSpPr>
        <p:spPr>
          <a:xfrm>
            <a:off x="533095" y="646481"/>
            <a:ext cx="1677000" cy="14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00"/>
              </a:buClr>
              <a:buSzPts val="10500"/>
              <a:buFont typeface="Archivo Black"/>
              <a:buNone/>
            </a:pPr>
            <a:r>
              <a:rPr b="0" i="0" lang="en-US" sz="10500" u="none" cap="none" strike="noStrike">
                <a:solidFill>
                  <a:srgbClr val="FF8A00"/>
                </a:solidFill>
                <a:latin typeface="Archivo Black"/>
                <a:ea typeface="Archivo Black"/>
                <a:cs typeface="Archivo Black"/>
                <a:sym typeface="Archivo Black"/>
              </a:rPr>
              <a:t>“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10763402" y="3943807"/>
            <a:ext cx="1677000" cy="14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00"/>
              </a:buClr>
              <a:buSzPts val="10500"/>
              <a:buFont typeface="Archivo Black"/>
              <a:buNone/>
            </a:pPr>
            <a:r>
              <a:rPr b="0" i="0" lang="en-US" sz="10500" u="none" cap="none" strike="noStrike">
                <a:solidFill>
                  <a:srgbClr val="FF8A00"/>
                </a:solidFill>
                <a:latin typeface="Archivo Black"/>
                <a:ea typeface="Archivo Black"/>
                <a:cs typeface="Archivo Black"/>
                <a:sym typeface="Archivo Black"/>
              </a:rPr>
              <a:t>”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295705" y="3934663"/>
            <a:ext cx="38400" cy="6384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1524305" y="3953866"/>
            <a:ext cx="1877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Clive Humby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1524305" y="4325112"/>
            <a:ext cx="296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Data Science Pioneer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104595" y="5734202"/>
            <a:ext cx="10134300" cy="19200"/>
          </a:xfrm>
          <a:prstGeom prst="rect">
            <a:avLst/>
          </a:prstGeom>
          <a:solidFill>
            <a:srgbClr val="000000">
              <a:alpha val="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1295705" y="1284732"/>
            <a:ext cx="9059100" cy="22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3900"/>
              <a:buFont typeface="Archivo Black"/>
              <a:buNone/>
            </a:pPr>
            <a:r>
              <a:rPr b="0" i="0" lang="en-US" sz="39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LES DONNÉES SONT LE NOUVEAU PÉTROLE, MAIS SANS PIPELINE, ELLES RESTENT INEXPLOITABLES.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6" title="cybersup-wordmark-blan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124" name="Google Shape;124;p6" title="cybersup-logo-symbole-original-monochrome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6" title="cybersup-connecteur-gradien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9165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A364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952505" y="3947599"/>
            <a:ext cx="10287000" cy="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952805" y="2076602"/>
            <a:ext cx="1452982" cy="1114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DM Sans"/>
              <a:buNone/>
            </a:pPr>
            <a:r>
              <a:rPr b="0" i="0" lang="en-US" sz="6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b="0" i="0" sz="6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1946758" y="2076602"/>
            <a:ext cx="976579" cy="1114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DM Sans"/>
              <a:buNone/>
            </a:pPr>
            <a:r>
              <a:rPr b="0" i="0" lang="en-US" sz="6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endParaRPr b="0" i="0" sz="6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2591297" y="2309142"/>
            <a:ext cx="85038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chivo Black"/>
              <a:buNone/>
            </a:pPr>
            <a:r>
              <a:rPr lang="en-US" sz="75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n8n</a:t>
            </a:r>
            <a:endParaRPr sz="75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7" title="cybersup-wordmark-blan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 title="cybersup-logo-symbole-original-monochrome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 flipH="1" rot="10800000">
            <a:off x="761700" y="449104"/>
            <a:ext cx="107958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761695" y="5810098"/>
            <a:ext cx="1066830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914400" y="6116884"/>
            <a:ext cx="476400" cy="476400"/>
          </a:xfrm>
          <a:prstGeom prst="roundRect">
            <a:avLst>
              <a:gd fmla="val 3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8" title="cybersup-connecteur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560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51" name="Google Shape;151;p8" title="cybersup-wordmark-blan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JOUR 1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" name="Google Shape;131;p7"/>
          <p:cNvSpPr/>
          <p:nvPr/>
        </p:nvSpPr>
        <p:spPr>
          <a:xfrm>
            <a:off x="952505" y="3947599"/>
            <a:ext cx="10287000" cy="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952805" y="2076602"/>
            <a:ext cx="1452982" cy="1114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DM Sans"/>
              <a:buNone/>
            </a:pPr>
            <a:r>
              <a:rPr b="0" i="0" lang="en-US" sz="6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b="0" i="0" sz="6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1946758" y="2076602"/>
            <a:ext cx="976579" cy="1114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DM Sans"/>
              <a:buNone/>
            </a:pPr>
            <a:r>
              <a:rPr b="0" i="0" lang="en-US" sz="6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endParaRPr b="0" i="0" sz="6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2591297" y="2309142"/>
            <a:ext cx="85038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chivo Black"/>
              <a:buNone/>
            </a:pPr>
            <a:r>
              <a:rPr lang="en-US" sz="75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INGESTION</a:t>
            </a:r>
            <a:endParaRPr sz="75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7" title="cybersup-wordmark-blanc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 title="cybersup-logo-symbole-original-monochrome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/>
          <p:nvPr/>
        </p:nvSpPr>
        <p:spPr>
          <a:xfrm>
            <a:off x="571500" y="381305"/>
            <a:ext cx="1104869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 txBox="1"/>
          <p:nvPr/>
        </p:nvSpPr>
        <p:spPr>
          <a:xfrm>
            <a:off x="571500" y="571500"/>
            <a:ext cx="857798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chivo Black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PLANNING — 5 JOURS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71500" y="6010351"/>
            <a:ext cx="1104869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1047902" y="3767328"/>
            <a:ext cx="10096805" cy="3840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761695" y="3376879"/>
            <a:ext cx="2095805" cy="1809598"/>
          </a:xfrm>
          <a:prstGeom prst="roundRect">
            <a:avLst>
              <a:gd fmla="val 3191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3619195" y="3376879"/>
            <a:ext cx="2095805" cy="1609344"/>
          </a:xfrm>
          <a:prstGeom prst="roundRect">
            <a:avLst>
              <a:gd fmla="val 4034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6476695" y="3376879"/>
            <a:ext cx="2095805" cy="1609344"/>
          </a:xfrm>
          <a:prstGeom prst="roundRect">
            <a:avLst>
              <a:gd fmla="val 4034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9334195" y="3376879"/>
            <a:ext cx="2095805" cy="1609344"/>
          </a:xfrm>
          <a:prstGeom prst="roundRect">
            <a:avLst>
              <a:gd fmla="val 4034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 txBox="1"/>
          <p:nvPr/>
        </p:nvSpPr>
        <p:spPr>
          <a:xfrm>
            <a:off x="1329538" y="3586277"/>
            <a:ext cx="1062533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7EFC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017EFC"/>
                </a:solidFill>
                <a:latin typeface="DM Sans"/>
                <a:ea typeface="DM Sans"/>
                <a:cs typeface="DM Sans"/>
                <a:sym typeface="DM Sans"/>
              </a:rPr>
              <a:t>JOUR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1205179" y="3862426"/>
            <a:ext cx="13386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n8n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1092708" y="4196182"/>
            <a:ext cx="1538935" cy="771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Triggers, workflows, scripts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4272991" y="3586277"/>
            <a:ext cx="890626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4C2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1534C2"/>
                </a:solidFill>
                <a:latin typeface="DM Sans"/>
                <a:ea typeface="DM Sans"/>
                <a:cs typeface="DM Sans"/>
                <a:sym typeface="DM Sans"/>
              </a:rPr>
              <a:t>JOUR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 txBox="1"/>
          <p:nvPr/>
        </p:nvSpPr>
        <p:spPr>
          <a:xfrm>
            <a:off x="4036162" y="3862426"/>
            <a:ext cx="13962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Ingestion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3825850" y="4196182"/>
            <a:ext cx="1786738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Parquet, validation, backfill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7051853" y="3586277"/>
            <a:ext cx="1053389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7D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03187D"/>
                </a:solidFill>
                <a:latin typeface="DM Sans"/>
                <a:ea typeface="DM Sans"/>
                <a:cs typeface="DM Sans"/>
                <a:sym typeface="DM Sans"/>
              </a:rPr>
              <a:t>JOUR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6846113" y="3862426"/>
            <a:ext cx="1491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Airflow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6681521" y="4196182"/>
            <a:ext cx="1786738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DAGs, operators, scheduling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 txBox="1"/>
          <p:nvPr/>
        </p:nvSpPr>
        <p:spPr>
          <a:xfrm>
            <a:off x="9844430" y="3586277"/>
            <a:ext cx="1176833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A00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FF8A00"/>
                </a:solidFill>
                <a:latin typeface="DM Sans"/>
                <a:ea typeface="DM Sans"/>
                <a:cs typeface="DM Sans"/>
                <a:sym typeface="DM Sans"/>
              </a:rPr>
              <a:t>JOUR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9638690" y="3862426"/>
            <a:ext cx="16248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dbt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9683496" y="4196182"/>
            <a:ext cx="150053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SQL, ELT, transformations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1429207" y="2385670"/>
            <a:ext cx="761695" cy="761695"/>
          </a:xfrm>
          <a:prstGeom prst="ellipse">
            <a:avLst/>
          </a:prstGeom>
          <a:solidFill>
            <a:srgbClr val="017EFC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4286707" y="2385670"/>
            <a:ext cx="761695" cy="761695"/>
          </a:xfrm>
          <a:prstGeom prst="ellipse">
            <a:avLst/>
          </a:prstGeom>
          <a:solidFill>
            <a:srgbClr val="1534C2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7144207" y="2385670"/>
            <a:ext cx="761695" cy="761695"/>
          </a:xfrm>
          <a:prstGeom prst="ellipse">
            <a:avLst/>
          </a:prstGeom>
          <a:solidFill>
            <a:srgbClr val="03187D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10001707" y="2385670"/>
            <a:ext cx="761695" cy="761695"/>
          </a:xfrm>
          <a:prstGeom prst="ellipse">
            <a:avLst/>
          </a:prstGeom>
          <a:solidFill>
            <a:srgbClr val="FF8A00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914400" y="6116884"/>
            <a:ext cx="476400" cy="476400"/>
          </a:xfrm>
          <a:prstGeom prst="roundRect">
            <a:avLst>
              <a:gd fmla="val 3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12" title="cybersup-connecteur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560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293" name="Google Shape;293;p12" title="cybersup-wordmark-blan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2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PLANNING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" name="Google Shape;131;p7"/>
          <p:cNvSpPr/>
          <p:nvPr/>
        </p:nvSpPr>
        <p:spPr>
          <a:xfrm>
            <a:off x="952505" y="3947599"/>
            <a:ext cx="10287000" cy="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952805" y="2076602"/>
            <a:ext cx="1452982" cy="1114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DM Sans"/>
              <a:buNone/>
            </a:pPr>
            <a:r>
              <a:rPr b="0" i="0" lang="en-US" sz="6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b="0" i="0" sz="6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1946758" y="2076602"/>
            <a:ext cx="976579" cy="1114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DM Sans"/>
              <a:buNone/>
            </a:pPr>
            <a:r>
              <a:rPr b="0" i="0" lang="en-US" sz="6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endParaRPr b="0" i="0" sz="6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2591297" y="2309142"/>
            <a:ext cx="85038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chivo Black"/>
              <a:buNone/>
            </a:pPr>
            <a:r>
              <a:rPr lang="en-US" sz="75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AIRFLOW</a:t>
            </a:r>
            <a:endParaRPr sz="75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7" title="cybersup-wordmark-blanc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 title="cybersup-logo-symbole-original-monochrome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"/>
          <p:cNvSpPr/>
          <p:nvPr/>
        </p:nvSpPr>
        <p:spPr>
          <a:xfrm>
            <a:off x="571500" y="1343248"/>
            <a:ext cx="8076900" cy="4327200"/>
          </a:xfrm>
          <a:prstGeom prst="roundRect">
            <a:avLst>
              <a:gd fmla="val 638" name="adj"/>
            </a:avLst>
          </a:prstGeom>
          <a:solidFill>
            <a:srgbClr val="03187D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571500" y="381305"/>
            <a:ext cx="110487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 txBox="1"/>
          <p:nvPr/>
        </p:nvSpPr>
        <p:spPr>
          <a:xfrm>
            <a:off x="571500" y="571500"/>
            <a:ext cx="72585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chivo Black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ARCHITECTURE AIRFLOW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8930030" y="1362456"/>
            <a:ext cx="2695800" cy="2476200"/>
          </a:xfrm>
          <a:prstGeom prst="roundRect">
            <a:avLst>
              <a:gd fmla="val 1136" name="adj"/>
            </a:avLst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8930030" y="1362456"/>
            <a:ext cx="38400" cy="24762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13"/>
          <p:cNvPicPr preferRelativeResize="0"/>
          <p:nvPr/>
        </p:nvPicPr>
        <p:blipFill rotWithShape="1">
          <a:blip r:embed="rId3">
            <a:alphaModFix/>
          </a:blip>
          <a:srcRect b="-100" l="0" r="0" t="-100"/>
          <a:stretch/>
        </p:blipFill>
        <p:spPr>
          <a:xfrm>
            <a:off x="9158630" y="1591056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3"/>
          <p:cNvSpPr txBox="1"/>
          <p:nvPr/>
        </p:nvSpPr>
        <p:spPr>
          <a:xfrm>
            <a:off x="9368028" y="1552651"/>
            <a:ext cx="18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chivo Black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COMPOSANTS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 txBox="1"/>
          <p:nvPr/>
        </p:nvSpPr>
        <p:spPr>
          <a:xfrm>
            <a:off x="9158630" y="1923898"/>
            <a:ext cx="2376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Scheduler parse les DAGs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/>
          <p:nvPr/>
        </p:nvSpPr>
        <p:spPr>
          <a:xfrm>
            <a:off x="9158630" y="2411273"/>
            <a:ext cx="23766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Webserver UI Flask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 txBox="1"/>
          <p:nvPr/>
        </p:nvSpPr>
        <p:spPr>
          <a:xfrm>
            <a:off x="9158630" y="3086100"/>
            <a:ext cx="23766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Workers Local/Celery/K8s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571500" y="23621695"/>
            <a:ext cx="304500" cy="304500"/>
          </a:xfrm>
          <a:prstGeom prst="roundRect">
            <a:avLst>
              <a:gd fmla="val 37538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13"/>
          <p:cNvPicPr preferRelativeResize="0"/>
          <p:nvPr/>
        </p:nvPicPr>
        <p:blipFill rotWithShape="1">
          <a:blip r:embed="rId4">
            <a:alphaModFix/>
          </a:blip>
          <a:srcRect b="-50" l="0" r="0" t="-40"/>
          <a:stretch/>
        </p:blipFill>
        <p:spPr>
          <a:xfrm>
            <a:off x="657454" y="23698505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3"/>
          <p:cNvSpPr/>
          <p:nvPr/>
        </p:nvSpPr>
        <p:spPr>
          <a:xfrm>
            <a:off x="705002" y="23832007"/>
            <a:ext cx="38400" cy="3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 txBox="1"/>
          <p:nvPr/>
        </p:nvSpPr>
        <p:spPr>
          <a:xfrm>
            <a:off x="1019556" y="23683874"/>
            <a:ext cx="11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Charte graphique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11312042" y="23683874"/>
            <a:ext cx="4152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14/16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8960014" y="4364399"/>
            <a:ext cx="2695800" cy="1295700"/>
          </a:xfrm>
          <a:prstGeom prst="roundRect">
            <a:avLst>
              <a:gd fmla="val 4151" name="adj"/>
            </a:avLst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9111805" y="4563738"/>
            <a:ext cx="75900" cy="75900"/>
          </a:xfrm>
          <a:prstGeom prst="ellipse">
            <a:avLst/>
          </a:prstGeom>
          <a:solidFill>
            <a:srgbClr val="0318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 txBox="1"/>
          <p:nvPr/>
        </p:nvSpPr>
        <p:spPr>
          <a:xfrm>
            <a:off x="9264510" y="4526248"/>
            <a:ext cx="11340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Périmètre / Externe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9111805" y="4811541"/>
            <a:ext cx="75900" cy="75900"/>
          </a:xfrm>
          <a:prstGeom prst="ellipse">
            <a:avLst/>
          </a:prstGeom>
          <a:solidFill>
            <a:srgbClr val="1534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 txBox="1"/>
          <p:nvPr/>
        </p:nvSpPr>
        <p:spPr>
          <a:xfrm>
            <a:off x="9264510" y="4774050"/>
            <a:ext cx="14484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DMZ (Zone Démilitarisée)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9111805" y="5059343"/>
            <a:ext cx="75900" cy="75900"/>
          </a:xfrm>
          <a:prstGeom prst="ellipse">
            <a:avLst/>
          </a:prstGeom>
          <a:solidFill>
            <a:srgbClr val="01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 txBox="1"/>
          <p:nvPr/>
        </p:nvSpPr>
        <p:spPr>
          <a:xfrm>
            <a:off x="9264510" y="5020938"/>
            <a:ext cx="800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LAN / Interne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9111805" y="5307145"/>
            <a:ext cx="75900" cy="75900"/>
          </a:xfrm>
          <a:prstGeom prst="ellipse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 txBox="1"/>
          <p:nvPr/>
        </p:nvSpPr>
        <p:spPr>
          <a:xfrm>
            <a:off x="9264510" y="5268741"/>
            <a:ext cx="10863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Points de Contrôle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876000" y="1728607"/>
            <a:ext cx="952800" cy="771900"/>
          </a:xfrm>
          <a:prstGeom prst="roundRect">
            <a:avLst>
              <a:gd fmla="val 877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876000" y="1728607"/>
            <a:ext cx="952800" cy="38400"/>
          </a:xfrm>
          <a:prstGeom prst="rect">
            <a:avLst/>
          </a:prstGeom>
          <a:solidFill>
            <a:srgbClr val="1534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9" name="Google Shape;32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8102" y="18429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3"/>
          <p:cNvSpPr txBox="1"/>
          <p:nvPr/>
        </p:nvSpPr>
        <p:spPr>
          <a:xfrm>
            <a:off x="998529" y="2148316"/>
            <a:ext cx="7911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WAF / REVERSE PROXY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570176" y="1800844"/>
            <a:ext cx="952800" cy="629100"/>
          </a:xfrm>
          <a:prstGeom prst="roundRect">
            <a:avLst>
              <a:gd fmla="val 1321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4570176" y="1800844"/>
            <a:ext cx="952800" cy="38400"/>
          </a:xfrm>
          <a:prstGeom prst="rect">
            <a:avLst/>
          </a:prstGeom>
          <a:solidFill>
            <a:srgbClr val="1534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1364" y="191514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3"/>
          <p:cNvSpPr txBox="1"/>
          <p:nvPr/>
        </p:nvSpPr>
        <p:spPr>
          <a:xfrm>
            <a:off x="4690877" y="2219640"/>
            <a:ext cx="7911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MAIL GATEWAY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876009" y="2909097"/>
            <a:ext cx="952800" cy="629100"/>
          </a:xfrm>
          <a:prstGeom prst="roundRect">
            <a:avLst>
              <a:gd fmla="val 1321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876009" y="2909097"/>
            <a:ext cx="952800" cy="38400"/>
          </a:xfrm>
          <a:prstGeom prst="rect">
            <a:avLst/>
          </a:prstGeom>
          <a:solidFill>
            <a:srgbClr val="01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p13"/>
          <p:cNvPicPr preferRelativeResize="0"/>
          <p:nvPr/>
        </p:nvPicPr>
        <p:blipFill rotWithShape="1">
          <a:blip r:embed="rId7">
            <a:alphaModFix/>
          </a:blip>
          <a:srcRect b="0" l="-60" r="-50" t="0"/>
          <a:stretch/>
        </p:blipFill>
        <p:spPr>
          <a:xfrm>
            <a:off x="1252741" y="3023397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3"/>
          <p:cNvSpPr txBox="1"/>
          <p:nvPr/>
        </p:nvSpPr>
        <p:spPr>
          <a:xfrm>
            <a:off x="1121068" y="3328807"/>
            <a:ext cx="543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AD / LDAP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3338488" y="2909097"/>
            <a:ext cx="952800" cy="629100"/>
          </a:xfrm>
          <a:prstGeom prst="roundRect">
            <a:avLst>
              <a:gd fmla="val 1321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3338488" y="2909097"/>
            <a:ext cx="952800" cy="38400"/>
          </a:xfrm>
          <a:prstGeom prst="rect">
            <a:avLst/>
          </a:prstGeom>
          <a:solidFill>
            <a:srgbClr val="01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13"/>
          <p:cNvPicPr preferRelativeResize="0"/>
          <p:nvPr/>
        </p:nvPicPr>
        <p:blipFill rotWithShape="1">
          <a:blip r:embed="rId8">
            <a:alphaModFix/>
          </a:blip>
          <a:srcRect b="0" l="-80" r="-80" t="0"/>
          <a:stretch/>
        </p:blipFill>
        <p:spPr>
          <a:xfrm>
            <a:off x="3672244" y="3023397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3"/>
          <p:cNvSpPr txBox="1"/>
          <p:nvPr/>
        </p:nvSpPr>
        <p:spPr>
          <a:xfrm>
            <a:off x="3532341" y="3328807"/>
            <a:ext cx="648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POSTES EDR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5800967" y="2909097"/>
            <a:ext cx="952800" cy="629100"/>
          </a:xfrm>
          <a:prstGeom prst="roundRect">
            <a:avLst>
              <a:gd fmla="val 1321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5800967" y="2909097"/>
            <a:ext cx="952800" cy="38400"/>
          </a:xfrm>
          <a:prstGeom prst="rect">
            <a:avLst/>
          </a:prstGeom>
          <a:solidFill>
            <a:srgbClr val="01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5" name="Google Shape;345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63069" y="302339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3"/>
          <p:cNvSpPr txBox="1"/>
          <p:nvPr/>
        </p:nvSpPr>
        <p:spPr>
          <a:xfrm>
            <a:off x="6021337" y="3328807"/>
            <a:ext cx="5907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SIEM / SOC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 txBox="1"/>
          <p:nvPr/>
        </p:nvSpPr>
        <p:spPr>
          <a:xfrm>
            <a:off x="876000" y="3946800"/>
            <a:ext cx="10863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7D"/>
              </a:buClr>
              <a:buSzPts val="900"/>
              <a:buFont typeface="Archivo Black"/>
              <a:buNone/>
            </a:pPr>
            <a:r>
              <a:rPr b="0" i="0" lang="en-US" sz="900" u="none" cap="none" strike="noStrike">
                <a:solidFill>
                  <a:srgbClr val="03187D"/>
                </a:solidFill>
                <a:latin typeface="Archivo Black"/>
                <a:ea typeface="Archivo Black"/>
                <a:cs typeface="Archivo Black"/>
                <a:sym typeface="Archivo Black"/>
              </a:rPr>
              <a:t>WAN / INTERNET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1150494" y="5136732"/>
            <a:ext cx="409800" cy="190200"/>
          </a:xfrm>
          <a:prstGeom prst="roundRect">
            <a:avLst>
              <a:gd fmla="val 96154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 txBox="1"/>
          <p:nvPr/>
        </p:nvSpPr>
        <p:spPr>
          <a:xfrm>
            <a:off x="1189804" y="5165078"/>
            <a:ext cx="353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HTTPS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5184542" y="5136732"/>
            <a:ext cx="562500" cy="190200"/>
          </a:xfrm>
          <a:prstGeom prst="roundRect">
            <a:avLst>
              <a:gd fmla="val 96154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 txBox="1"/>
          <p:nvPr/>
        </p:nvSpPr>
        <p:spPr>
          <a:xfrm>
            <a:off x="5227129" y="5165076"/>
            <a:ext cx="6483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VPN IPSec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876000" y="4459719"/>
            <a:ext cx="952800" cy="629100"/>
          </a:xfrm>
          <a:prstGeom prst="roundRect">
            <a:avLst>
              <a:gd fmla="val 1321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876000" y="4459719"/>
            <a:ext cx="952800" cy="38400"/>
          </a:xfrm>
          <a:prstGeom prst="rect">
            <a:avLst/>
          </a:prstGeom>
          <a:solidFill>
            <a:srgbClr val="0318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4" name="Google Shape;354;p13"/>
          <p:cNvPicPr preferRelativeResize="0"/>
          <p:nvPr/>
        </p:nvPicPr>
        <p:blipFill rotWithShape="1">
          <a:blip r:embed="rId10">
            <a:alphaModFix/>
          </a:blip>
          <a:srcRect b="0" l="-80" r="-80" t="0"/>
          <a:stretch/>
        </p:blipFill>
        <p:spPr>
          <a:xfrm>
            <a:off x="1209756" y="4574019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3"/>
          <p:cNvSpPr txBox="1"/>
          <p:nvPr/>
        </p:nvSpPr>
        <p:spPr>
          <a:xfrm>
            <a:off x="1127460" y="4878515"/>
            <a:ext cx="5340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INTERNET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959476" y="4492994"/>
            <a:ext cx="952800" cy="629100"/>
          </a:xfrm>
          <a:prstGeom prst="roundRect">
            <a:avLst>
              <a:gd fmla="val 1321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4959476" y="4492994"/>
            <a:ext cx="952800" cy="38400"/>
          </a:xfrm>
          <a:prstGeom prst="rect">
            <a:avLst/>
          </a:prstGeom>
          <a:solidFill>
            <a:srgbClr val="0318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p13"/>
          <p:cNvPicPr preferRelativeResize="0"/>
          <p:nvPr/>
        </p:nvPicPr>
        <p:blipFill rotWithShape="1">
          <a:blip r:embed="rId11">
            <a:alphaModFix/>
          </a:blip>
          <a:srcRect b="0" l="-80" r="-80" t="0"/>
          <a:stretch/>
        </p:blipFill>
        <p:spPr>
          <a:xfrm>
            <a:off x="5292317" y="4607294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3"/>
          <p:cNvSpPr txBox="1"/>
          <p:nvPr/>
        </p:nvSpPr>
        <p:spPr>
          <a:xfrm>
            <a:off x="5206364" y="4911790"/>
            <a:ext cx="5340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SAAS APP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571500" y="6010351"/>
            <a:ext cx="110487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914400" y="6116884"/>
            <a:ext cx="476400" cy="476400"/>
          </a:xfrm>
          <a:prstGeom prst="roundRect">
            <a:avLst>
              <a:gd fmla="val 3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13" title="cybersup-connecteur-gradient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88560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364" name="Google Shape;364;p13" title="cybersup-wordmark-blanc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3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JOUR 3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13"/>
          <p:cNvCxnSpPr>
            <a:endCxn id="339" idx="1"/>
          </p:cNvCxnSpPr>
          <p:nvPr/>
        </p:nvCxnSpPr>
        <p:spPr>
          <a:xfrm>
            <a:off x="1829788" y="2106147"/>
            <a:ext cx="1508700" cy="111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" name="Google Shape;367;p13"/>
          <p:cNvCxnSpPr>
            <a:stCxn id="331" idx="2"/>
            <a:endCxn id="343" idx="1"/>
          </p:cNvCxnSpPr>
          <p:nvPr/>
        </p:nvCxnSpPr>
        <p:spPr>
          <a:xfrm>
            <a:off x="5046576" y="2429944"/>
            <a:ext cx="754500" cy="79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" name="Google Shape;368;p13"/>
          <p:cNvCxnSpPr>
            <a:stCxn id="335" idx="3"/>
            <a:endCxn id="356" idx="1"/>
          </p:cNvCxnSpPr>
          <p:nvPr/>
        </p:nvCxnSpPr>
        <p:spPr>
          <a:xfrm>
            <a:off x="1828809" y="3223647"/>
            <a:ext cx="3130800" cy="15840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13"/>
          <p:cNvCxnSpPr>
            <a:stCxn id="339" idx="3"/>
          </p:cNvCxnSpPr>
          <p:nvPr/>
        </p:nvCxnSpPr>
        <p:spPr>
          <a:xfrm>
            <a:off x="4291288" y="3223647"/>
            <a:ext cx="1263300" cy="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0" name="Google Shape;370;p13"/>
          <p:cNvSpPr/>
          <p:nvPr/>
        </p:nvSpPr>
        <p:spPr>
          <a:xfrm>
            <a:off x="5138069" y="2625521"/>
            <a:ext cx="571500" cy="286200"/>
          </a:xfrm>
          <a:prstGeom prst="roundRect">
            <a:avLst>
              <a:gd fmla="val 42599" name="adj"/>
            </a:avLst>
          </a:prstGeom>
          <a:solidFill>
            <a:srgbClr val="FF8A00"/>
          </a:solidFill>
          <a:ln>
            <a:noFill/>
          </a:ln>
          <a:effectLst>
            <a:outerShdw blurRad="63500" rotWithShape="0" algn="bl" dir="5400000" dist="38100">
              <a:srgbClr val="FF8A00">
                <a:alpha val="2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281630" y="2721532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3"/>
          <p:cNvSpPr txBox="1"/>
          <p:nvPr/>
        </p:nvSpPr>
        <p:spPr>
          <a:xfrm>
            <a:off x="5415132" y="2697759"/>
            <a:ext cx="2286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FW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" name="Google Shape;131;p7"/>
          <p:cNvSpPr/>
          <p:nvPr/>
        </p:nvSpPr>
        <p:spPr>
          <a:xfrm>
            <a:off x="952505" y="3947599"/>
            <a:ext cx="10287000" cy="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952805" y="2076602"/>
            <a:ext cx="1452982" cy="1114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DM Sans"/>
              <a:buNone/>
            </a:pPr>
            <a:r>
              <a:rPr b="0" i="0" lang="en-US" sz="6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 b="0" i="0" sz="6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1946758" y="2076602"/>
            <a:ext cx="976579" cy="1114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DM Sans"/>
              <a:buNone/>
            </a:pPr>
            <a:r>
              <a:rPr b="0" i="0" lang="en-US" sz="6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endParaRPr b="0" i="0" sz="6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2591297" y="2309142"/>
            <a:ext cx="85038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chivo Black"/>
              <a:buNone/>
            </a:pPr>
            <a:r>
              <a:rPr lang="en-US" sz="75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dbt</a:t>
            </a:r>
            <a:endParaRPr sz="75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7" title="cybersup-wordmark-blanc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 title="cybersup-logo-symbole-original-monochrome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 txBox="1"/>
          <p:nvPr/>
        </p:nvSpPr>
        <p:spPr>
          <a:xfrm>
            <a:off x="571500" y="362102"/>
            <a:ext cx="4486961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chivo Black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n8n VS AIRFLOW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571500" y="866851"/>
            <a:ext cx="1104869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571500" y="1266444"/>
            <a:ext cx="5286000" cy="4362600"/>
          </a:xfrm>
          <a:prstGeom prst="roundRect">
            <a:avLst>
              <a:gd fmla="val 549" name="adj"/>
            </a:avLst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580644" y="1276502"/>
            <a:ext cx="5266944" cy="724205"/>
          </a:xfrm>
          <a:prstGeom prst="rect">
            <a:avLst/>
          </a:prstGeom>
          <a:solidFill>
            <a:srgbClr val="3038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819302" y="1533449"/>
            <a:ext cx="1420063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chivo Black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n8n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5266944" y="1466698"/>
            <a:ext cx="342900" cy="342900"/>
          </a:xfrm>
          <a:prstGeom prst="roundRect">
            <a:avLst>
              <a:gd fmla="val 59259" name="adj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2956" y="156179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/>
          <p:nvPr/>
        </p:nvSpPr>
        <p:spPr>
          <a:xfrm>
            <a:off x="580644" y="2000707"/>
            <a:ext cx="5266800" cy="3619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819302" y="2247595"/>
            <a:ext cx="1488643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8B0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3038B0"/>
                </a:solidFill>
                <a:latin typeface="DM Sans"/>
                <a:ea typeface="DM Sans"/>
                <a:cs typeface="DM Sans"/>
                <a:sym typeface="DM Sans"/>
              </a:rPr>
              <a:t>LOW-CODE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11"/>
          <p:cNvPicPr preferRelativeResize="0"/>
          <p:nvPr/>
        </p:nvPicPr>
        <p:blipFill rotWithShape="1">
          <a:blip r:embed="rId4">
            <a:alphaModFix/>
          </a:blip>
          <a:srcRect b="-1093" l="0" r="0" t="-1103"/>
          <a:stretch/>
        </p:blipFill>
        <p:spPr>
          <a:xfrm>
            <a:off x="819302" y="2633472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1"/>
          <p:cNvSpPr txBox="1"/>
          <p:nvPr/>
        </p:nvSpPr>
        <p:spPr>
          <a:xfrm>
            <a:off x="1047902" y="2595982"/>
            <a:ext cx="17529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Interface Visuelle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1047902" y="2862072"/>
            <a:ext cx="404622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Création par drag-and-drop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11"/>
          <p:cNvPicPr preferRelativeResize="0"/>
          <p:nvPr/>
        </p:nvPicPr>
        <p:blipFill rotWithShape="1">
          <a:blip r:embed="rId4">
            <a:alphaModFix/>
          </a:blip>
          <a:srcRect b="-1093" l="0" r="0" t="-1103"/>
          <a:stretch/>
        </p:blipFill>
        <p:spPr>
          <a:xfrm>
            <a:off x="819302" y="3276295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1"/>
          <p:cNvSpPr txBox="1"/>
          <p:nvPr/>
        </p:nvSpPr>
        <p:spPr>
          <a:xfrm>
            <a:off x="1047902" y="3238805"/>
            <a:ext cx="116220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300+ Connecteurs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1047902" y="3504895"/>
            <a:ext cx="4598518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Intégrations SaaS natives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p11"/>
          <p:cNvPicPr preferRelativeResize="0"/>
          <p:nvPr/>
        </p:nvPicPr>
        <p:blipFill rotWithShape="1">
          <a:blip r:embed="rId4">
            <a:alphaModFix/>
          </a:blip>
          <a:srcRect b="-1093" l="0" r="0" t="-1103"/>
          <a:stretch/>
        </p:blipFill>
        <p:spPr>
          <a:xfrm>
            <a:off x="819302" y="3919118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1"/>
          <p:cNvSpPr txBox="1"/>
          <p:nvPr/>
        </p:nvSpPr>
        <p:spPr>
          <a:xfrm>
            <a:off x="1047902" y="3881628"/>
            <a:ext cx="15435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Prototypage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1047902" y="4147718"/>
            <a:ext cx="415137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POC et automatisations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334049" y="1266444"/>
            <a:ext cx="5286146" cy="4362602"/>
          </a:xfrm>
          <a:prstGeom prst="roundRect">
            <a:avLst>
              <a:gd fmla="val 549" name="adj"/>
            </a:avLst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6344107" y="1276502"/>
            <a:ext cx="5266944" cy="724205"/>
          </a:xfrm>
          <a:prstGeom prst="rect">
            <a:avLst/>
          </a:prstGeom>
          <a:solidFill>
            <a:srgbClr val="FD71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6581851" y="1533449"/>
            <a:ext cx="1286561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chivo Black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AIRFLOW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1030407" y="1466698"/>
            <a:ext cx="342900" cy="342900"/>
          </a:xfrm>
          <a:prstGeom prst="roundRect">
            <a:avLst>
              <a:gd fmla="val 59259" name="adj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25505" y="156179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/>
          <p:nvPr/>
        </p:nvSpPr>
        <p:spPr>
          <a:xfrm>
            <a:off x="6344107" y="2000707"/>
            <a:ext cx="5266944" cy="361919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 txBox="1"/>
          <p:nvPr/>
        </p:nvSpPr>
        <p:spPr>
          <a:xfrm>
            <a:off x="6581851" y="2247595"/>
            <a:ext cx="1498702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C0D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D95C0D"/>
                </a:solidFill>
                <a:latin typeface="DM Sans"/>
                <a:ea typeface="DM Sans"/>
                <a:cs typeface="DM Sans"/>
                <a:sym typeface="DM Sans"/>
              </a:rPr>
              <a:t>ORCHESTRATION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11"/>
          <p:cNvPicPr preferRelativeResize="0"/>
          <p:nvPr/>
        </p:nvPicPr>
        <p:blipFill rotWithShape="1">
          <a:blip r:embed="rId6">
            <a:alphaModFix/>
          </a:blip>
          <a:srcRect b="0" l="-1506" r="-1506" t="0"/>
          <a:stretch/>
        </p:blipFill>
        <p:spPr>
          <a:xfrm>
            <a:off x="6581851" y="2633472"/>
            <a:ext cx="85954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1"/>
          <p:cNvSpPr txBox="1"/>
          <p:nvPr/>
        </p:nvSpPr>
        <p:spPr>
          <a:xfrm>
            <a:off x="6782105" y="2595982"/>
            <a:ext cx="150510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DAGs Python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6782105" y="2862072"/>
            <a:ext cx="4255618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Contrôle total en Python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11"/>
          <p:cNvPicPr preferRelativeResize="0"/>
          <p:nvPr/>
        </p:nvPicPr>
        <p:blipFill rotWithShape="1">
          <a:blip r:embed="rId6">
            <a:alphaModFix/>
          </a:blip>
          <a:srcRect b="0" l="-1506" r="-1506" t="0"/>
          <a:stretch/>
        </p:blipFill>
        <p:spPr>
          <a:xfrm>
            <a:off x="6581851" y="3276295"/>
            <a:ext cx="85954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 txBox="1"/>
          <p:nvPr/>
        </p:nvSpPr>
        <p:spPr>
          <a:xfrm>
            <a:off x="6782105" y="3238805"/>
            <a:ext cx="1743761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Scheduling Avancé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6782105" y="3504895"/>
            <a:ext cx="392277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Cron, catchup, backfill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11"/>
          <p:cNvPicPr preferRelativeResize="0"/>
          <p:nvPr/>
        </p:nvPicPr>
        <p:blipFill rotWithShape="1">
          <a:blip r:embed="rId6">
            <a:alphaModFix/>
          </a:blip>
          <a:srcRect b="0" l="-1506" r="-1506" t="0"/>
          <a:stretch/>
        </p:blipFill>
        <p:spPr>
          <a:xfrm>
            <a:off x="6581851" y="3919118"/>
            <a:ext cx="85954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 txBox="1"/>
          <p:nvPr/>
        </p:nvSpPr>
        <p:spPr>
          <a:xfrm>
            <a:off x="6782105" y="3881628"/>
            <a:ext cx="1438351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0A1047"/>
                </a:solidFill>
                <a:latin typeface="DM Sans"/>
                <a:ea typeface="DM Sans"/>
                <a:cs typeface="DM Sans"/>
                <a:sym typeface="DM Sans"/>
              </a:rPr>
              <a:t>Production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6782105" y="4147718"/>
            <a:ext cx="365577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Pipelines robustes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71500" y="6010351"/>
            <a:ext cx="1104869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5810098" y="3161995"/>
            <a:ext cx="571500" cy="571500"/>
          </a:xfrm>
          <a:prstGeom prst="ellipse">
            <a:avLst/>
          </a:prstGeom>
          <a:solidFill>
            <a:srgbClr val="000000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5952744" y="3305556"/>
            <a:ext cx="428854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chivo Black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VS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914400" y="6116884"/>
            <a:ext cx="476400" cy="476400"/>
          </a:xfrm>
          <a:prstGeom prst="roundRect">
            <a:avLst>
              <a:gd fmla="val 3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11" title="cybersup-connecteur-gradien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8560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256" name="Google Shape;256;p11" title="cybersup-wordmark-blanc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1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COMPARAISON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" name="Google Shape;131;p7"/>
          <p:cNvSpPr/>
          <p:nvPr/>
        </p:nvSpPr>
        <p:spPr>
          <a:xfrm>
            <a:off x="952505" y="3947599"/>
            <a:ext cx="10287000" cy="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952805" y="2076602"/>
            <a:ext cx="1452982" cy="1114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DM Sans"/>
              <a:buNone/>
            </a:pPr>
            <a:r>
              <a:rPr b="0" i="0" lang="en-US" sz="6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  <a:endParaRPr b="0" i="0" sz="6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1946758" y="2076602"/>
            <a:ext cx="976579" cy="1114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DM Sans"/>
              <a:buNone/>
            </a:pPr>
            <a:r>
              <a:rPr b="0" i="0" lang="en-US" sz="6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endParaRPr b="0" i="0" sz="6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2591297" y="2309142"/>
            <a:ext cx="85038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chivo Black"/>
              <a:buNone/>
            </a:pPr>
            <a:r>
              <a:rPr lang="en-US" sz="75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CI/CD</a:t>
            </a:r>
            <a:endParaRPr sz="75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7" title="cybersup-wordmark-blanc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 title="cybersup-logo-symbole-original-monochrome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"/>
          <p:cNvSpPr/>
          <p:nvPr/>
        </p:nvSpPr>
        <p:spPr>
          <a:xfrm>
            <a:off x="571500" y="381305"/>
            <a:ext cx="1104869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 txBox="1"/>
          <p:nvPr/>
        </p:nvSpPr>
        <p:spPr>
          <a:xfrm>
            <a:off x="571500" y="571500"/>
            <a:ext cx="6715354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chivo Black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BONNES PRATIQUES — CI/CD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571500" y="1314907"/>
            <a:ext cx="3524098" cy="2180844"/>
          </a:xfrm>
          <a:prstGeom prst="roundRect">
            <a:avLst>
              <a:gd fmla="val 1465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0" name="Google Shape;4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349" y="149504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5"/>
          <p:cNvSpPr txBox="1"/>
          <p:nvPr/>
        </p:nvSpPr>
        <p:spPr>
          <a:xfrm>
            <a:off x="1019556" y="1505102"/>
            <a:ext cx="22101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Archivo Black"/>
              <a:buNone/>
            </a:pPr>
            <a:r>
              <a:rPr b="0" i="0" lang="en-US" sz="12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VERSIONNING GIT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 txBox="1"/>
          <p:nvPr/>
        </p:nvSpPr>
        <p:spPr>
          <a:xfrm>
            <a:off x="733349" y="1772107"/>
            <a:ext cx="2857500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Scripts, DAGs, dbt dans Git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733349" y="2192731"/>
            <a:ext cx="3200400" cy="1143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743407" y="2201875"/>
            <a:ext cx="1295705" cy="247802"/>
          </a:xfrm>
          <a:prstGeom prst="rect">
            <a:avLst/>
          </a:prstGeom>
          <a:solidFill>
            <a:srgbClr val="0A1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 txBox="1"/>
          <p:nvPr/>
        </p:nvSpPr>
        <p:spPr>
          <a:xfrm>
            <a:off x="819302" y="2259482"/>
            <a:ext cx="295351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2032711" y="2201875"/>
            <a:ext cx="790956" cy="247802"/>
          </a:xfrm>
          <a:prstGeom prst="rect">
            <a:avLst/>
          </a:prstGeom>
          <a:solidFill>
            <a:srgbClr val="0A1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"/>
          <p:cNvSpPr txBox="1"/>
          <p:nvPr/>
        </p:nvSpPr>
        <p:spPr>
          <a:xfrm>
            <a:off x="2108606" y="2259482"/>
            <a:ext cx="257861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MFA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2820010" y="2201875"/>
            <a:ext cx="1104595" cy="247802"/>
          </a:xfrm>
          <a:prstGeom prst="rect">
            <a:avLst/>
          </a:prstGeom>
          <a:solidFill>
            <a:srgbClr val="0A1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 txBox="1"/>
          <p:nvPr/>
        </p:nvSpPr>
        <p:spPr>
          <a:xfrm>
            <a:off x="2896819" y="2259482"/>
            <a:ext cx="3913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743407" y="2702966"/>
            <a:ext cx="129570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 txBox="1"/>
          <p:nvPr/>
        </p:nvSpPr>
        <p:spPr>
          <a:xfrm>
            <a:off x="819302" y="2511857"/>
            <a:ext cx="5148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Admin_01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2032711" y="2702966"/>
            <a:ext cx="790956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"/>
          <p:cNvSpPr txBox="1"/>
          <p:nvPr/>
        </p:nvSpPr>
        <p:spPr>
          <a:xfrm>
            <a:off x="2108606" y="2511857"/>
            <a:ext cx="2862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Actif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2820010" y="2702966"/>
            <a:ext cx="110459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 txBox="1"/>
          <p:nvPr/>
        </p:nvSpPr>
        <p:spPr>
          <a:xfrm>
            <a:off x="2896819" y="2511857"/>
            <a:ext cx="428854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SECURE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743407" y="2964485"/>
            <a:ext cx="129570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 txBox="1"/>
          <p:nvPr/>
        </p:nvSpPr>
        <p:spPr>
          <a:xfrm>
            <a:off x="819302" y="2777947"/>
            <a:ext cx="4956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Root_Sys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2032711" y="2964485"/>
            <a:ext cx="790956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 txBox="1"/>
          <p:nvPr/>
        </p:nvSpPr>
        <p:spPr>
          <a:xfrm>
            <a:off x="2108606" y="2777947"/>
            <a:ext cx="2862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Actif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2820010" y="2964485"/>
            <a:ext cx="110459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 txBox="1"/>
          <p:nvPr/>
        </p:nvSpPr>
        <p:spPr>
          <a:xfrm>
            <a:off x="2896819" y="2777947"/>
            <a:ext cx="428854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SECURE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 txBox="1"/>
          <p:nvPr/>
        </p:nvSpPr>
        <p:spPr>
          <a:xfrm>
            <a:off x="819302" y="3044952"/>
            <a:ext cx="4956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User_Std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 txBox="1"/>
          <p:nvPr/>
        </p:nvSpPr>
        <p:spPr>
          <a:xfrm>
            <a:off x="2108606" y="3044952"/>
            <a:ext cx="2862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Actif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 txBox="1"/>
          <p:nvPr/>
        </p:nvSpPr>
        <p:spPr>
          <a:xfrm>
            <a:off x="2896819" y="3044952"/>
            <a:ext cx="428854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SECURE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4334256" y="1314907"/>
            <a:ext cx="3524098" cy="2180844"/>
          </a:xfrm>
          <a:prstGeom prst="roundRect">
            <a:avLst>
              <a:gd fmla="val 1465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6" name="Google Shape;4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6105" y="149504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5"/>
          <p:cNvSpPr txBox="1"/>
          <p:nvPr/>
        </p:nvSpPr>
        <p:spPr>
          <a:xfrm>
            <a:off x="4781398" y="1505102"/>
            <a:ext cx="2220163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Archivo Black"/>
              <a:buNone/>
            </a:pPr>
            <a:r>
              <a:rPr b="0" i="0" lang="en-US" sz="12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TESTS AUTO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 txBox="1"/>
          <p:nvPr/>
        </p:nvSpPr>
        <p:spPr>
          <a:xfrm>
            <a:off x="4496105" y="1772107"/>
            <a:ext cx="3258007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pytest + tests dbt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4496105" y="2192731"/>
            <a:ext cx="3200400" cy="1143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4505249" y="2201875"/>
            <a:ext cx="1314907" cy="247802"/>
          </a:xfrm>
          <a:prstGeom prst="rect">
            <a:avLst/>
          </a:prstGeom>
          <a:solidFill>
            <a:srgbClr val="01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"/>
          <p:cNvSpPr txBox="1"/>
          <p:nvPr/>
        </p:nvSpPr>
        <p:spPr>
          <a:xfrm>
            <a:off x="4581144" y="2259482"/>
            <a:ext cx="314554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VLAN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5811012" y="2201875"/>
            <a:ext cx="694944" cy="247802"/>
          </a:xfrm>
          <a:prstGeom prst="rect">
            <a:avLst/>
          </a:prstGeom>
          <a:solidFill>
            <a:srgbClr val="01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 txBox="1"/>
          <p:nvPr/>
        </p:nvSpPr>
        <p:spPr>
          <a:xfrm>
            <a:off x="5886907" y="2259482"/>
            <a:ext cx="1627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6505956" y="2201875"/>
            <a:ext cx="1181405" cy="247802"/>
          </a:xfrm>
          <a:prstGeom prst="rect">
            <a:avLst/>
          </a:prstGeom>
          <a:solidFill>
            <a:srgbClr val="01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"/>
          <p:cNvSpPr txBox="1"/>
          <p:nvPr/>
        </p:nvSpPr>
        <p:spPr>
          <a:xfrm>
            <a:off x="6581851" y="2259482"/>
            <a:ext cx="36210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ACCÈS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4505249" y="2702966"/>
            <a:ext cx="1314907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5"/>
          <p:cNvSpPr txBox="1"/>
          <p:nvPr/>
        </p:nvSpPr>
        <p:spPr>
          <a:xfrm>
            <a:off x="4581144" y="2511857"/>
            <a:ext cx="476402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Prod_DB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5811012" y="2702966"/>
            <a:ext cx="69494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"/>
          <p:cNvSpPr txBox="1"/>
          <p:nvPr/>
        </p:nvSpPr>
        <p:spPr>
          <a:xfrm>
            <a:off x="5886907" y="2511857"/>
            <a:ext cx="238658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100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6505956" y="2702966"/>
            <a:ext cx="118140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 txBox="1"/>
          <p:nvPr/>
        </p:nvSpPr>
        <p:spPr>
          <a:xfrm>
            <a:off x="6581851" y="2511857"/>
            <a:ext cx="4956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RESTRICT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4505249" y="2964485"/>
            <a:ext cx="1314907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"/>
          <p:cNvSpPr txBox="1"/>
          <p:nvPr/>
        </p:nvSpPr>
        <p:spPr>
          <a:xfrm>
            <a:off x="4581144" y="2777947"/>
            <a:ext cx="4956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Dev_App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5811012" y="2964485"/>
            <a:ext cx="69494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5"/>
          <p:cNvSpPr txBox="1"/>
          <p:nvPr/>
        </p:nvSpPr>
        <p:spPr>
          <a:xfrm>
            <a:off x="5886907" y="2777947"/>
            <a:ext cx="2670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200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6505956" y="2964485"/>
            <a:ext cx="118140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"/>
          <p:cNvSpPr txBox="1"/>
          <p:nvPr/>
        </p:nvSpPr>
        <p:spPr>
          <a:xfrm>
            <a:off x="6581851" y="2777947"/>
            <a:ext cx="5148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ISOLATED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 txBox="1"/>
          <p:nvPr/>
        </p:nvSpPr>
        <p:spPr>
          <a:xfrm>
            <a:off x="4581144" y="3044952"/>
            <a:ext cx="57150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Wifi_Guest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 txBox="1"/>
          <p:nvPr/>
        </p:nvSpPr>
        <p:spPr>
          <a:xfrm>
            <a:off x="5886907" y="3044952"/>
            <a:ext cx="2670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900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 txBox="1"/>
          <p:nvPr/>
        </p:nvSpPr>
        <p:spPr>
          <a:xfrm>
            <a:off x="6581851" y="3044952"/>
            <a:ext cx="4005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PUBLIC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8096098" y="1314907"/>
            <a:ext cx="3524098" cy="2180844"/>
          </a:xfrm>
          <a:prstGeom prst="roundRect">
            <a:avLst>
              <a:gd fmla="val 1465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2" name="Google Shape;4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7946" y="149504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5"/>
          <p:cNvSpPr txBox="1"/>
          <p:nvPr/>
        </p:nvSpPr>
        <p:spPr>
          <a:xfrm>
            <a:off x="8544154" y="1505102"/>
            <a:ext cx="220096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Archivo Black"/>
              <a:buNone/>
            </a:pPr>
            <a:r>
              <a:rPr b="0" i="0" lang="en-US" sz="12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CI/CD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 txBox="1"/>
          <p:nvPr/>
        </p:nvSpPr>
        <p:spPr>
          <a:xfrm>
            <a:off x="8257946" y="1772107"/>
            <a:ext cx="2991002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GitHub Actions lint+test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8257946" y="2043684"/>
            <a:ext cx="3200400" cy="1295705"/>
          </a:xfrm>
          <a:prstGeom prst="roundRect">
            <a:avLst>
              <a:gd fmla="val 207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8268005" y="2053742"/>
            <a:ext cx="1343254" cy="247802"/>
          </a:xfrm>
          <a:prstGeom prst="rect">
            <a:avLst/>
          </a:prstGeom>
          <a:solidFill>
            <a:srgbClr val="0A1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 txBox="1"/>
          <p:nvPr/>
        </p:nvSpPr>
        <p:spPr>
          <a:xfrm>
            <a:off x="8343900" y="2110435"/>
            <a:ext cx="45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SERVEUR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9602114" y="2053742"/>
            <a:ext cx="972007" cy="247802"/>
          </a:xfrm>
          <a:prstGeom prst="rect">
            <a:avLst/>
          </a:prstGeom>
          <a:solidFill>
            <a:srgbClr val="0A1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 txBox="1"/>
          <p:nvPr/>
        </p:nvSpPr>
        <p:spPr>
          <a:xfrm>
            <a:off x="9678924" y="2110435"/>
            <a:ext cx="4480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VERSION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10571378" y="2053742"/>
            <a:ext cx="886054" cy="247802"/>
          </a:xfrm>
          <a:prstGeom prst="rect">
            <a:avLst/>
          </a:prstGeom>
          <a:solidFill>
            <a:srgbClr val="0A1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 txBox="1"/>
          <p:nvPr/>
        </p:nvSpPr>
        <p:spPr>
          <a:xfrm>
            <a:off x="10647274" y="2110435"/>
            <a:ext cx="35295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PATCH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8268005" y="2553919"/>
            <a:ext cx="13432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5"/>
          <p:cNvSpPr txBox="1"/>
          <p:nvPr/>
        </p:nvSpPr>
        <p:spPr>
          <a:xfrm>
            <a:off x="8343900" y="2362810"/>
            <a:ext cx="64831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SRV-WEB-01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9602114" y="2553919"/>
            <a:ext cx="972007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"/>
          <p:cNvSpPr txBox="1"/>
          <p:nvPr/>
        </p:nvSpPr>
        <p:spPr>
          <a:xfrm>
            <a:off x="9678924" y="2362810"/>
            <a:ext cx="34290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v2.4.5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10571378" y="2553919"/>
            <a:ext cx="8860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 txBox="1"/>
          <p:nvPr/>
        </p:nvSpPr>
        <p:spPr>
          <a:xfrm>
            <a:off x="10647274" y="2362810"/>
            <a:ext cx="4005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LATEST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8268005" y="2816352"/>
            <a:ext cx="13432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5"/>
          <p:cNvSpPr txBox="1"/>
          <p:nvPr/>
        </p:nvSpPr>
        <p:spPr>
          <a:xfrm>
            <a:off x="8343900" y="2629814"/>
            <a:ext cx="590702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SRV-DB-02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9602114" y="2816352"/>
            <a:ext cx="972007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 txBox="1"/>
          <p:nvPr/>
        </p:nvSpPr>
        <p:spPr>
          <a:xfrm>
            <a:off x="9678924" y="2629814"/>
            <a:ext cx="295351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v14.2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10571378" y="2816352"/>
            <a:ext cx="8860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5"/>
          <p:cNvSpPr txBox="1"/>
          <p:nvPr/>
        </p:nvSpPr>
        <p:spPr>
          <a:xfrm>
            <a:off x="10647274" y="2629814"/>
            <a:ext cx="4005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LATEST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 txBox="1"/>
          <p:nvPr/>
        </p:nvSpPr>
        <p:spPr>
          <a:xfrm>
            <a:off x="8343900" y="2896819"/>
            <a:ext cx="5148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FW-EDGE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 txBox="1"/>
          <p:nvPr/>
        </p:nvSpPr>
        <p:spPr>
          <a:xfrm>
            <a:off x="9678924" y="2896819"/>
            <a:ext cx="295351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v7.0.1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 txBox="1"/>
          <p:nvPr/>
        </p:nvSpPr>
        <p:spPr>
          <a:xfrm>
            <a:off x="10647274" y="2896819"/>
            <a:ext cx="4005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LATEST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571500" y="3733495"/>
            <a:ext cx="3524098" cy="2180844"/>
          </a:xfrm>
          <a:prstGeom prst="roundRect">
            <a:avLst>
              <a:gd fmla="val 1465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8" name="Google Shape;48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349" y="391454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5"/>
          <p:cNvSpPr txBox="1"/>
          <p:nvPr/>
        </p:nvSpPr>
        <p:spPr>
          <a:xfrm>
            <a:off x="1019556" y="3924605"/>
            <a:ext cx="223845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Archivo Black"/>
              <a:buNone/>
            </a:pPr>
            <a:r>
              <a:rPr b="0" i="0" lang="en-US" sz="12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SECRETS EN CLAIR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 txBox="1"/>
          <p:nvPr/>
        </p:nvSpPr>
        <p:spPr>
          <a:xfrm>
            <a:off x="733349" y="4190695"/>
            <a:ext cx="2839212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Utiliser .env + secrets mgr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733349" y="4463186"/>
            <a:ext cx="3200400" cy="1295705"/>
          </a:xfrm>
          <a:prstGeom prst="roundRect">
            <a:avLst>
              <a:gd fmla="val 207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743407" y="4473245"/>
            <a:ext cx="1000354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5"/>
          <p:cNvSpPr txBox="1"/>
          <p:nvPr/>
        </p:nvSpPr>
        <p:spPr>
          <a:xfrm>
            <a:off x="819302" y="4529938"/>
            <a:ext cx="4389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1740103" y="4473245"/>
            <a:ext cx="1104595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5"/>
          <p:cNvSpPr txBox="1"/>
          <p:nvPr/>
        </p:nvSpPr>
        <p:spPr>
          <a:xfrm>
            <a:off x="1815998" y="4529938"/>
            <a:ext cx="286207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PWD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2843784" y="4473245"/>
            <a:ext cx="1086307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 txBox="1"/>
          <p:nvPr/>
        </p:nvSpPr>
        <p:spPr>
          <a:xfrm>
            <a:off x="2919679" y="4529938"/>
            <a:ext cx="3337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AUDIT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743407" y="4973422"/>
            <a:ext cx="10003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5"/>
          <p:cNvSpPr txBox="1"/>
          <p:nvPr/>
        </p:nvSpPr>
        <p:spPr>
          <a:xfrm>
            <a:off x="819302" y="4782312"/>
            <a:ext cx="362102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Admin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1740103" y="4973422"/>
            <a:ext cx="110459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5"/>
          <p:cNvSpPr txBox="1"/>
          <p:nvPr/>
        </p:nvSpPr>
        <p:spPr>
          <a:xfrm>
            <a:off x="1815998" y="4782312"/>
            <a:ext cx="4956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admin123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2843784" y="4973422"/>
            <a:ext cx="1086307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5"/>
          <p:cNvSpPr txBox="1"/>
          <p:nvPr/>
        </p:nvSpPr>
        <p:spPr>
          <a:xfrm>
            <a:off x="2919679" y="4782312"/>
            <a:ext cx="486461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CRITICAL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743407" y="5235854"/>
            <a:ext cx="10003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5"/>
          <p:cNvSpPr txBox="1"/>
          <p:nvPr/>
        </p:nvSpPr>
        <p:spPr>
          <a:xfrm>
            <a:off x="819302" y="5049317"/>
            <a:ext cx="34290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Guest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1740103" y="5235854"/>
            <a:ext cx="110459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5"/>
          <p:cNvSpPr txBox="1"/>
          <p:nvPr/>
        </p:nvSpPr>
        <p:spPr>
          <a:xfrm>
            <a:off x="1815998" y="5049317"/>
            <a:ext cx="324612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guest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2843784" y="5235854"/>
            <a:ext cx="1086307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5"/>
          <p:cNvSpPr txBox="1"/>
          <p:nvPr/>
        </p:nvSpPr>
        <p:spPr>
          <a:xfrm>
            <a:off x="2919679" y="5049317"/>
            <a:ext cx="30541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 txBox="1"/>
          <p:nvPr/>
        </p:nvSpPr>
        <p:spPr>
          <a:xfrm>
            <a:off x="819302" y="5315407"/>
            <a:ext cx="409651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 txBox="1"/>
          <p:nvPr/>
        </p:nvSpPr>
        <p:spPr>
          <a:xfrm>
            <a:off x="1815998" y="5315407"/>
            <a:ext cx="4005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123456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5"/>
          <p:cNvSpPr txBox="1"/>
          <p:nvPr/>
        </p:nvSpPr>
        <p:spPr>
          <a:xfrm>
            <a:off x="2919679" y="5315407"/>
            <a:ext cx="486461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CRITICAL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5"/>
          <p:cNvSpPr/>
          <p:nvPr/>
        </p:nvSpPr>
        <p:spPr>
          <a:xfrm>
            <a:off x="4334256" y="3733495"/>
            <a:ext cx="3524098" cy="2180844"/>
          </a:xfrm>
          <a:prstGeom prst="roundRect">
            <a:avLst>
              <a:gd fmla="val 1465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4" name="Google Shape;5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6105" y="391454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5"/>
          <p:cNvSpPr txBox="1"/>
          <p:nvPr/>
        </p:nvSpPr>
        <p:spPr>
          <a:xfrm>
            <a:off x="4781398" y="3924605"/>
            <a:ext cx="21534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Archivo Black"/>
              <a:buNone/>
            </a:pPr>
            <a:r>
              <a:rPr b="0" i="0" lang="en-US" sz="12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CODE NON TESTÉ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5"/>
          <p:cNvSpPr txBox="1"/>
          <p:nvPr/>
        </p:nvSpPr>
        <p:spPr>
          <a:xfrm>
            <a:off x="4496105" y="4190695"/>
            <a:ext cx="3191256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Bug prod = données perdues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5"/>
          <p:cNvSpPr/>
          <p:nvPr/>
        </p:nvSpPr>
        <p:spPr>
          <a:xfrm>
            <a:off x="4496105" y="4612234"/>
            <a:ext cx="3200400" cy="1143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5"/>
          <p:cNvSpPr/>
          <p:nvPr/>
        </p:nvSpPr>
        <p:spPr>
          <a:xfrm>
            <a:off x="4505249" y="4621378"/>
            <a:ext cx="1152144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5"/>
          <p:cNvSpPr txBox="1"/>
          <p:nvPr/>
        </p:nvSpPr>
        <p:spPr>
          <a:xfrm>
            <a:off x="4581144" y="4678985"/>
            <a:ext cx="428854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5649163" y="4621378"/>
            <a:ext cx="866851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5"/>
          <p:cNvSpPr txBox="1"/>
          <p:nvPr/>
        </p:nvSpPr>
        <p:spPr>
          <a:xfrm>
            <a:off x="5725058" y="4678985"/>
            <a:ext cx="3054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6512357" y="4621378"/>
            <a:ext cx="1181405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5"/>
          <p:cNvSpPr txBox="1"/>
          <p:nvPr/>
        </p:nvSpPr>
        <p:spPr>
          <a:xfrm>
            <a:off x="6588252" y="4678985"/>
            <a:ext cx="3913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RISQUE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4505249" y="5122469"/>
            <a:ext cx="115214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5"/>
          <p:cNvSpPr txBox="1"/>
          <p:nvPr/>
        </p:nvSpPr>
        <p:spPr>
          <a:xfrm>
            <a:off x="4581144" y="4931359"/>
            <a:ext cx="34290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Telnet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5649163" y="5122469"/>
            <a:ext cx="866851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5"/>
          <p:cNvSpPr txBox="1"/>
          <p:nvPr/>
        </p:nvSpPr>
        <p:spPr>
          <a:xfrm>
            <a:off x="5725058" y="4931359"/>
            <a:ext cx="19111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5"/>
          <p:cNvSpPr/>
          <p:nvPr/>
        </p:nvSpPr>
        <p:spPr>
          <a:xfrm>
            <a:off x="6512357" y="5122469"/>
            <a:ext cx="118140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5"/>
          <p:cNvSpPr txBox="1"/>
          <p:nvPr/>
        </p:nvSpPr>
        <p:spPr>
          <a:xfrm>
            <a:off x="6588252" y="4931359"/>
            <a:ext cx="30541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4505249" y="5383987"/>
            <a:ext cx="115214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5"/>
          <p:cNvSpPr txBox="1"/>
          <p:nvPr/>
        </p:nvSpPr>
        <p:spPr>
          <a:xfrm>
            <a:off x="4581144" y="5197450"/>
            <a:ext cx="257861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RDP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5649163" y="5383987"/>
            <a:ext cx="866851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5"/>
          <p:cNvSpPr txBox="1"/>
          <p:nvPr/>
        </p:nvSpPr>
        <p:spPr>
          <a:xfrm>
            <a:off x="5725058" y="5197450"/>
            <a:ext cx="30541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3389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6512357" y="5383987"/>
            <a:ext cx="1181405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5"/>
          <p:cNvSpPr txBox="1"/>
          <p:nvPr/>
        </p:nvSpPr>
        <p:spPr>
          <a:xfrm>
            <a:off x="6588252" y="5197450"/>
            <a:ext cx="448056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MEDIUM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 txBox="1"/>
          <p:nvPr/>
        </p:nvSpPr>
        <p:spPr>
          <a:xfrm>
            <a:off x="4581144" y="5464454"/>
            <a:ext cx="238658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FTP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 txBox="1"/>
          <p:nvPr/>
        </p:nvSpPr>
        <p:spPr>
          <a:xfrm>
            <a:off x="5725058" y="5464454"/>
            <a:ext cx="162763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21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 txBox="1"/>
          <p:nvPr/>
        </p:nvSpPr>
        <p:spPr>
          <a:xfrm>
            <a:off x="6588252" y="5464454"/>
            <a:ext cx="286207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8096098" y="3733495"/>
            <a:ext cx="3524098" cy="2180844"/>
          </a:xfrm>
          <a:prstGeom prst="roundRect">
            <a:avLst>
              <a:gd fmla="val 1465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0" name="Google Shape;5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7946" y="391454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5"/>
          <p:cNvSpPr txBox="1"/>
          <p:nvPr/>
        </p:nvSpPr>
        <p:spPr>
          <a:xfrm>
            <a:off x="8544154" y="3924605"/>
            <a:ext cx="108630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Archivo Black"/>
              <a:buNone/>
            </a:pPr>
            <a:r>
              <a:rPr b="0" i="0" lang="en-US" sz="1200" u="none" cap="none" strike="noStrike">
                <a:solidFill>
                  <a:srgbClr val="0A1047"/>
                </a:solidFill>
                <a:latin typeface="Archivo Black"/>
                <a:ea typeface="Archivo Black"/>
                <a:cs typeface="Archivo Black"/>
                <a:sym typeface="Archivo Black"/>
              </a:rPr>
              <a:t>DEPLOY MANUEL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 txBox="1"/>
          <p:nvPr/>
        </p:nvSpPr>
        <p:spPr>
          <a:xfrm>
            <a:off x="8257946" y="4190695"/>
            <a:ext cx="3029407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Risque d'erreurs humaines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8257946" y="4612234"/>
            <a:ext cx="3200400" cy="1143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8268005" y="4621378"/>
            <a:ext cx="1228954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"/>
          <p:cNvSpPr txBox="1"/>
          <p:nvPr/>
        </p:nvSpPr>
        <p:spPr>
          <a:xfrm>
            <a:off x="8343900" y="4678985"/>
            <a:ext cx="24780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9488729" y="4621378"/>
            <a:ext cx="1037844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5"/>
          <p:cNvSpPr txBox="1"/>
          <p:nvPr/>
        </p:nvSpPr>
        <p:spPr>
          <a:xfrm>
            <a:off x="9564624" y="4678985"/>
            <a:ext cx="286207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TYPE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10522001" y="4621378"/>
            <a:ext cx="933602" cy="24780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"/>
          <p:cNvSpPr txBox="1"/>
          <p:nvPr/>
        </p:nvSpPr>
        <p:spPr>
          <a:xfrm>
            <a:off x="10597896" y="4678985"/>
            <a:ext cx="4197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VALIDÉ?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8268005" y="5122469"/>
            <a:ext cx="12289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 txBox="1"/>
          <p:nvPr/>
        </p:nvSpPr>
        <p:spPr>
          <a:xfrm>
            <a:off x="8343900" y="4931359"/>
            <a:ext cx="581558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WeTransfer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9488729" y="5122469"/>
            <a:ext cx="103784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5"/>
          <p:cNvSpPr txBox="1"/>
          <p:nvPr/>
        </p:nvSpPr>
        <p:spPr>
          <a:xfrm>
            <a:off x="9564624" y="4931359"/>
            <a:ext cx="476402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FileShare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10522001" y="5122469"/>
            <a:ext cx="933602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5"/>
          <p:cNvSpPr txBox="1"/>
          <p:nvPr/>
        </p:nvSpPr>
        <p:spPr>
          <a:xfrm>
            <a:off x="10597896" y="4931359"/>
            <a:ext cx="219456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8268005" y="5383987"/>
            <a:ext cx="122895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5"/>
          <p:cNvSpPr txBox="1"/>
          <p:nvPr/>
        </p:nvSpPr>
        <p:spPr>
          <a:xfrm>
            <a:off x="8343900" y="5197450"/>
            <a:ext cx="543154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WhatsApp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9488729" y="5383987"/>
            <a:ext cx="1037844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5"/>
          <p:cNvSpPr txBox="1"/>
          <p:nvPr/>
        </p:nvSpPr>
        <p:spPr>
          <a:xfrm>
            <a:off x="9564624" y="5197450"/>
            <a:ext cx="267005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Msg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10522001" y="5383987"/>
            <a:ext cx="933602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5"/>
          <p:cNvSpPr txBox="1"/>
          <p:nvPr/>
        </p:nvSpPr>
        <p:spPr>
          <a:xfrm>
            <a:off x="10597896" y="5197450"/>
            <a:ext cx="219456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 txBox="1"/>
          <p:nvPr/>
        </p:nvSpPr>
        <p:spPr>
          <a:xfrm>
            <a:off x="8343900" y="5464454"/>
            <a:ext cx="45720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Dropbox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5"/>
          <p:cNvSpPr txBox="1"/>
          <p:nvPr/>
        </p:nvSpPr>
        <p:spPr>
          <a:xfrm>
            <a:off x="9564624" y="5464454"/>
            <a:ext cx="342900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Cloud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 txBox="1"/>
          <p:nvPr/>
        </p:nvSpPr>
        <p:spPr>
          <a:xfrm>
            <a:off x="10597896" y="5464454"/>
            <a:ext cx="219456" cy="12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/>
          <p:nvPr/>
        </p:nvSpPr>
        <p:spPr>
          <a:xfrm>
            <a:off x="571500" y="6010351"/>
            <a:ext cx="11048695" cy="192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5"/>
          <p:cNvSpPr/>
          <p:nvPr/>
        </p:nvSpPr>
        <p:spPr>
          <a:xfrm>
            <a:off x="914400" y="6116884"/>
            <a:ext cx="476400" cy="476400"/>
          </a:xfrm>
          <a:prstGeom prst="roundRect">
            <a:avLst>
              <a:gd fmla="val 3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5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8" name="Google Shape;568;p15" title="cybersup-connecteur-gradien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8560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569" name="Google Shape;569;p15" title="cybersup-wordmark-blanc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15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JOUR 5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5"/>
          <p:cNvSpPr txBox="1"/>
          <p:nvPr/>
        </p:nvSpPr>
        <p:spPr>
          <a:xfrm>
            <a:off x="1459125" y="6235750"/>
            <a:ext cx="383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5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5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3880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8"/>
          <p:cNvSpPr/>
          <p:nvPr/>
        </p:nvSpPr>
        <p:spPr>
          <a:xfrm>
            <a:off x="3945075" y="5545644"/>
            <a:ext cx="3379800" cy="304500"/>
          </a:xfrm>
          <a:prstGeom prst="roundRect">
            <a:avLst>
              <a:gd fmla="val 132908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8"/>
          <p:cNvSpPr/>
          <p:nvPr/>
        </p:nvSpPr>
        <p:spPr>
          <a:xfrm>
            <a:off x="571500" y="381305"/>
            <a:ext cx="11048700" cy="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8"/>
          <p:cNvSpPr txBox="1"/>
          <p:nvPr/>
        </p:nvSpPr>
        <p:spPr>
          <a:xfrm>
            <a:off x="571500" y="552298"/>
            <a:ext cx="46863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chivo Black"/>
              <a:buNone/>
            </a:pPr>
            <a:r>
              <a:rPr b="0" i="0" lang="en-US" sz="27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POUR ALLER PLUS LOIN</a:t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8"/>
          <p:cNvSpPr/>
          <p:nvPr/>
        </p:nvSpPr>
        <p:spPr>
          <a:xfrm>
            <a:off x="787977" y="1543507"/>
            <a:ext cx="3429000" cy="192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8" name="Google Shape;678;p18"/>
          <p:cNvPicPr preferRelativeResize="0"/>
          <p:nvPr/>
        </p:nvPicPr>
        <p:blipFill rotWithShape="1">
          <a:blip r:embed="rId3">
            <a:alphaModFix/>
          </a:blip>
          <a:srcRect b="0" l="-1652" r="-1642" t="0"/>
          <a:stretch/>
        </p:blipFill>
        <p:spPr>
          <a:xfrm>
            <a:off x="787977" y="1200607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18"/>
          <p:cNvSpPr txBox="1"/>
          <p:nvPr/>
        </p:nvSpPr>
        <p:spPr>
          <a:xfrm>
            <a:off x="1074184" y="1200607"/>
            <a:ext cx="14337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DOCUMENTATION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8"/>
          <p:cNvSpPr/>
          <p:nvPr/>
        </p:nvSpPr>
        <p:spPr>
          <a:xfrm>
            <a:off x="787977" y="1772107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1" name="Google Shape;6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931" y="1857146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18"/>
          <p:cNvSpPr txBox="1"/>
          <p:nvPr/>
        </p:nvSpPr>
        <p:spPr>
          <a:xfrm>
            <a:off x="1206772" y="1742846"/>
            <a:ext cx="5625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Airflow DocsI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8"/>
          <p:cNvSpPr txBox="1"/>
          <p:nvPr/>
        </p:nvSpPr>
        <p:spPr>
          <a:xfrm>
            <a:off x="1206772" y="1954987"/>
            <a:ext cx="26151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airflow.apache.org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8"/>
          <p:cNvSpPr/>
          <p:nvPr/>
        </p:nvSpPr>
        <p:spPr>
          <a:xfrm>
            <a:off x="787977" y="2549347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5" name="Google Shape;6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931" y="2634386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18"/>
          <p:cNvSpPr txBox="1"/>
          <p:nvPr/>
        </p:nvSpPr>
        <p:spPr>
          <a:xfrm>
            <a:off x="1206772" y="2520086"/>
            <a:ext cx="11814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dbt Learn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8"/>
          <p:cNvSpPr txBox="1"/>
          <p:nvPr/>
        </p:nvSpPr>
        <p:spPr>
          <a:xfrm>
            <a:off x="1206772" y="2732227"/>
            <a:ext cx="28821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courses.getdbt.com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8"/>
          <p:cNvSpPr/>
          <p:nvPr/>
        </p:nvSpPr>
        <p:spPr>
          <a:xfrm>
            <a:off x="787977" y="3326587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9" name="Google Shape;689;p18"/>
          <p:cNvPicPr preferRelativeResize="0"/>
          <p:nvPr/>
        </p:nvPicPr>
        <p:blipFill rotWithShape="1">
          <a:blip r:embed="rId6">
            <a:alphaModFix/>
          </a:blip>
          <a:srcRect b="0" l="-833" r="-843" t="0"/>
          <a:stretch/>
        </p:blipFill>
        <p:spPr>
          <a:xfrm>
            <a:off x="863872" y="3411626"/>
            <a:ext cx="152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18"/>
          <p:cNvSpPr txBox="1"/>
          <p:nvPr/>
        </p:nvSpPr>
        <p:spPr>
          <a:xfrm>
            <a:off x="1206772" y="3297326"/>
            <a:ext cx="7818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n8n Docs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8"/>
          <p:cNvSpPr txBox="1"/>
          <p:nvPr/>
        </p:nvSpPr>
        <p:spPr>
          <a:xfrm>
            <a:off x="1206772" y="3509467"/>
            <a:ext cx="26628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docs.n8n.io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8"/>
          <p:cNvSpPr/>
          <p:nvPr/>
        </p:nvSpPr>
        <p:spPr>
          <a:xfrm>
            <a:off x="787977" y="4103827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3" name="Google Shape;693;p18"/>
          <p:cNvPicPr preferRelativeResize="0"/>
          <p:nvPr/>
        </p:nvPicPr>
        <p:blipFill rotWithShape="1">
          <a:blip r:embed="rId7">
            <a:alphaModFix/>
          </a:blip>
          <a:srcRect b="-1093" l="0" r="0" t="-1103"/>
          <a:stretch/>
        </p:blipFill>
        <p:spPr>
          <a:xfrm>
            <a:off x="883075" y="4189781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18"/>
          <p:cNvSpPr txBox="1"/>
          <p:nvPr/>
        </p:nvSpPr>
        <p:spPr>
          <a:xfrm>
            <a:off x="1206772" y="4075481"/>
            <a:ext cx="12099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Prefect Docs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 txBox="1"/>
          <p:nvPr/>
        </p:nvSpPr>
        <p:spPr>
          <a:xfrm>
            <a:off x="1206772" y="4286707"/>
            <a:ext cx="3024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docs.prefect.io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8"/>
          <p:cNvSpPr/>
          <p:nvPr/>
        </p:nvSpPr>
        <p:spPr>
          <a:xfrm>
            <a:off x="4381805" y="1543507"/>
            <a:ext cx="3429000" cy="192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7" name="Google Shape;69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1805" y="120060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18"/>
          <p:cNvSpPr txBox="1"/>
          <p:nvPr/>
        </p:nvSpPr>
        <p:spPr>
          <a:xfrm>
            <a:off x="4686300" y="1200607"/>
            <a:ext cx="20052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OUTILS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8"/>
          <p:cNvSpPr/>
          <p:nvPr/>
        </p:nvSpPr>
        <p:spPr>
          <a:xfrm>
            <a:off x="4381805" y="1772107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0" name="Google Shape;700;p18"/>
          <p:cNvPicPr preferRelativeResize="0"/>
          <p:nvPr/>
        </p:nvPicPr>
        <p:blipFill rotWithShape="1">
          <a:blip r:embed="rId9">
            <a:alphaModFix/>
          </a:blip>
          <a:srcRect b="0" l="-1504" r="-1514" t="0"/>
          <a:stretch/>
        </p:blipFill>
        <p:spPr>
          <a:xfrm>
            <a:off x="4448556" y="1857146"/>
            <a:ext cx="171907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18"/>
          <p:cNvSpPr txBox="1"/>
          <p:nvPr/>
        </p:nvSpPr>
        <p:spPr>
          <a:xfrm>
            <a:off x="4800600" y="1742846"/>
            <a:ext cx="886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Docker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8"/>
          <p:cNvSpPr txBox="1"/>
          <p:nvPr/>
        </p:nvSpPr>
        <p:spPr>
          <a:xfrm>
            <a:off x="4800600" y="1954987"/>
            <a:ext cx="30441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Containers et déploiement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8"/>
          <p:cNvSpPr/>
          <p:nvPr/>
        </p:nvSpPr>
        <p:spPr>
          <a:xfrm>
            <a:off x="4381805" y="2375611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4" name="Google Shape;704;p18"/>
          <p:cNvPicPr preferRelativeResize="0"/>
          <p:nvPr/>
        </p:nvPicPr>
        <p:blipFill rotWithShape="1">
          <a:blip r:embed="rId10">
            <a:alphaModFix/>
          </a:blip>
          <a:srcRect b="0" l="-833" r="-843" t="0"/>
          <a:stretch/>
        </p:blipFill>
        <p:spPr>
          <a:xfrm>
            <a:off x="4457700" y="2461565"/>
            <a:ext cx="152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18"/>
          <p:cNvSpPr txBox="1"/>
          <p:nvPr/>
        </p:nvSpPr>
        <p:spPr>
          <a:xfrm>
            <a:off x="4800600" y="2347265"/>
            <a:ext cx="886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DuckDB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8"/>
          <p:cNvSpPr txBox="1"/>
          <p:nvPr/>
        </p:nvSpPr>
        <p:spPr>
          <a:xfrm>
            <a:off x="4800600" y="2558491"/>
            <a:ext cx="3062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Base OLAP analytique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4381805" y="2979115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8" name="Google Shape;708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66844" y="3065069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18"/>
          <p:cNvSpPr txBox="1"/>
          <p:nvPr/>
        </p:nvSpPr>
        <p:spPr>
          <a:xfrm>
            <a:off x="4800600" y="2950769"/>
            <a:ext cx="10104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Parquet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8"/>
          <p:cNvSpPr txBox="1"/>
          <p:nvPr/>
        </p:nvSpPr>
        <p:spPr>
          <a:xfrm>
            <a:off x="4800600" y="3161995"/>
            <a:ext cx="290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Format columnar optimisé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8"/>
          <p:cNvSpPr/>
          <p:nvPr/>
        </p:nvSpPr>
        <p:spPr>
          <a:xfrm>
            <a:off x="4381805" y="3583534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2" name="Google Shape;712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66844" y="3669487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18"/>
          <p:cNvSpPr txBox="1"/>
          <p:nvPr/>
        </p:nvSpPr>
        <p:spPr>
          <a:xfrm>
            <a:off x="4800600" y="3555187"/>
            <a:ext cx="8961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pytest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8"/>
          <p:cNvSpPr txBox="1"/>
          <p:nvPr/>
        </p:nvSpPr>
        <p:spPr>
          <a:xfrm>
            <a:off x="4800600" y="3766414"/>
            <a:ext cx="29481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Framework tests Python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8"/>
          <p:cNvSpPr/>
          <p:nvPr/>
        </p:nvSpPr>
        <p:spPr>
          <a:xfrm>
            <a:off x="4381805" y="4187038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6" name="Google Shape;716;p18"/>
          <p:cNvPicPr preferRelativeResize="0"/>
          <p:nvPr/>
        </p:nvPicPr>
        <p:blipFill rotWithShape="1">
          <a:blip r:embed="rId13">
            <a:alphaModFix/>
          </a:blip>
          <a:srcRect b="0" l="-833" r="-843" t="0"/>
          <a:stretch/>
        </p:blipFill>
        <p:spPr>
          <a:xfrm>
            <a:off x="4457700" y="4272991"/>
            <a:ext cx="152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18"/>
          <p:cNvSpPr txBox="1"/>
          <p:nvPr/>
        </p:nvSpPr>
        <p:spPr>
          <a:xfrm>
            <a:off x="4800600" y="4158691"/>
            <a:ext cx="9246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GitHub Actions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8"/>
          <p:cNvSpPr txBox="1"/>
          <p:nvPr/>
        </p:nvSpPr>
        <p:spPr>
          <a:xfrm>
            <a:off x="4800600" y="4369918"/>
            <a:ext cx="31107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CI/CD automation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8"/>
          <p:cNvSpPr/>
          <p:nvPr/>
        </p:nvSpPr>
        <p:spPr>
          <a:xfrm>
            <a:off x="7983377" y="1543507"/>
            <a:ext cx="3429000" cy="192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0" name="Google Shape;720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983377" y="1200607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18"/>
          <p:cNvSpPr txBox="1"/>
          <p:nvPr/>
        </p:nvSpPr>
        <p:spPr>
          <a:xfrm>
            <a:off x="8336336" y="1200607"/>
            <a:ext cx="15390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chivo Black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COMMUNAUTÉ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8"/>
          <p:cNvSpPr/>
          <p:nvPr/>
        </p:nvSpPr>
        <p:spPr>
          <a:xfrm>
            <a:off x="7983377" y="1772107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3" name="Google Shape;723;p18"/>
          <p:cNvPicPr preferRelativeResize="0"/>
          <p:nvPr/>
        </p:nvPicPr>
        <p:blipFill rotWithShape="1">
          <a:blip r:embed="rId15">
            <a:alphaModFix/>
          </a:blip>
          <a:srcRect b="0" l="-1504" r="-1514" t="0"/>
          <a:stretch/>
        </p:blipFill>
        <p:spPr>
          <a:xfrm>
            <a:off x="8050128" y="1857146"/>
            <a:ext cx="171907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18"/>
          <p:cNvSpPr txBox="1"/>
          <p:nvPr/>
        </p:nvSpPr>
        <p:spPr>
          <a:xfrm>
            <a:off x="8403087" y="1742846"/>
            <a:ext cx="11724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dbt Slack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8"/>
          <p:cNvSpPr txBox="1"/>
          <p:nvPr/>
        </p:nvSpPr>
        <p:spPr>
          <a:xfrm>
            <a:off x="8403087" y="1954987"/>
            <a:ext cx="24249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Communauté active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8"/>
          <p:cNvSpPr/>
          <p:nvPr/>
        </p:nvSpPr>
        <p:spPr>
          <a:xfrm>
            <a:off x="7983377" y="2549347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7" name="Google Shape;727;p18"/>
          <p:cNvPicPr preferRelativeResize="0"/>
          <p:nvPr/>
        </p:nvPicPr>
        <p:blipFill rotWithShape="1">
          <a:blip r:embed="rId16">
            <a:alphaModFix/>
          </a:blip>
          <a:srcRect b="0" l="-1504" r="-1514" t="0"/>
          <a:stretch/>
        </p:blipFill>
        <p:spPr>
          <a:xfrm>
            <a:off x="8050128" y="2634386"/>
            <a:ext cx="171907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18"/>
          <p:cNvSpPr txBox="1"/>
          <p:nvPr/>
        </p:nvSpPr>
        <p:spPr>
          <a:xfrm>
            <a:off x="8403087" y="2520086"/>
            <a:ext cx="12867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Astronomer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8"/>
          <p:cNvSpPr txBox="1"/>
          <p:nvPr/>
        </p:nvSpPr>
        <p:spPr>
          <a:xfrm>
            <a:off x="8403087" y="2732227"/>
            <a:ext cx="28053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Guides et certifications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8"/>
          <p:cNvSpPr/>
          <p:nvPr/>
        </p:nvSpPr>
        <p:spPr>
          <a:xfrm>
            <a:off x="7983377" y="3152851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1" name="Google Shape;731;p18"/>
          <p:cNvPicPr preferRelativeResize="0"/>
          <p:nvPr/>
        </p:nvPicPr>
        <p:blipFill rotWithShape="1">
          <a:blip r:embed="rId17">
            <a:alphaModFix/>
          </a:blip>
          <a:srcRect b="0" l="-2509" r="-2509" t="0"/>
          <a:stretch/>
        </p:blipFill>
        <p:spPr>
          <a:xfrm>
            <a:off x="8083961" y="3238805"/>
            <a:ext cx="105156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18"/>
          <p:cNvSpPr txBox="1"/>
          <p:nvPr/>
        </p:nvSpPr>
        <p:spPr>
          <a:xfrm>
            <a:off x="8403087" y="3124505"/>
            <a:ext cx="1353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047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Engineering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8"/>
          <p:cNvSpPr txBox="1"/>
          <p:nvPr/>
        </p:nvSpPr>
        <p:spPr>
          <a:xfrm>
            <a:off x="8403087" y="3335731"/>
            <a:ext cx="27771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r/dataengineering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8"/>
          <p:cNvSpPr/>
          <p:nvPr/>
        </p:nvSpPr>
        <p:spPr>
          <a:xfrm>
            <a:off x="571500" y="5545644"/>
            <a:ext cx="3243300" cy="304500"/>
          </a:xfrm>
          <a:prstGeom prst="roundRect">
            <a:avLst>
              <a:gd fmla="val 132908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5" name="Google Shape;735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33349" y="5635757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18"/>
          <p:cNvSpPr txBox="1"/>
          <p:nvPr/>
        </p:nvSpPr>
        <p:spPr>
          <a:xfrm>
            <a:off x="961950" y="5589010"/>
            <a:ext cx="2805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DM Sans"/>
              <a:buNone/>
            </a:pPr>
            <a:r>
              <a:rPr lang="en-US" sz="1500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email@mail.com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8"/>
          <p:cNvSpPr txBox="1"/>
          <p:nvPr/>
        </p:nvSpPr>
        <p:spPr>
          <a:xfrm>
            <a:off x="4357604" y="5594233"/>
            <a:ext cx="1851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DM Sans"/>
              <a:buNone/>
            </a:pPr>
            <a:r>
              <a:rPr lang="en-US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linkedin.com/formateur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8"/>
          <p:cNvSpPr/>
          <p:nvPr/>
        </p:nvSpPr>
        <p:spPr>
          <a:xfrm>
            <a:off x="10458907" y="4496105"/>
            <a:ext cx="1162200" cy="1410000"/>
          </a:xfrm>
          <a:prstGeom prst="roundRect">
            <a:avLst>
              <a:gd fmla="val 5159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8"/>
          <p:cNvSpPr txBox="1"/>
          <p:nvPr/>
        </p:nvSpPr>
        <p:spPr>
          <a:xfrm>
            <a:off x="10746943" y="5648249"/>
            <a:ext cx="676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Black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SCAN 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8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1" name="Google Shape;741;p18" title="cybersup-wordmark-blanc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18"/>
          <p:cNvSpPr txBox="1"/>
          <p:nvPr/>
        </p:nvSpPr>
        <p:spPr>
          <a:xfrm>
            <a:off x="9461750" y="457200"/>
            <a:ext cx="2095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DOCUMENTATION</a:t>
            </a:r>
            <a:endParaRPr b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8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4" name="Google Shape;744;p18"/>
          <p:cNvPicPr preferRelativeResize="0"/>
          <p:nvPr/>
        </p:nvPicPr>
        <p:blipFill rotWithShape="1">
          <a:blip r:embed="rId20">
            <a:alphaModFix/>
          </a:blip>
          <a:srcRect b="-50" l="0" r="0" t="-40"/>
          <a:stretch/>
        </p:blipFill>
        <p:spPr>
          <a:xfrm>
            <a:off x="4088876" y="5596771"/>
            <a:ext cx="171900" cy="196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18" title="cybersup-logo-symbole-original-monochrome-1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18" title="cybersup-connecteur-gradient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979165" y="6171138"/>
            <a:ext cx="333379" cy="345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747" name="Google Shape;747;p18"/>
          <p:cNvSpPr/>
          <p:nvPr/>
        </p:nvSpPr>
        <p:spPr>
          <a:xfrm rot="10800000">
            <a:off x="-250375" y="3173800"/>
            <a:ext cx="831000" cy="463500"/>
          </a:xfrm>
          <a:prstGeom prst="chevron">
            <a:avLst>
              <a:gd fmla="val 30178" name="adj"/>
            </a:avLst>
          </a:prstGeom>
          <a:solidFill>
            <a:srgbClr val="BF2E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8"/>
          <p:cNvSpPr txBox="1"/>
          <p:nvPr/>
        </p:nvSpPr>
        <p:spPr>
          <a:xfrm>
            <a:off x="46974" y="3215276"/>
            <a:ext cx="454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8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</a:t>
            </a:r>
            <a:endParaRPr b="1" sz="8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DM Sans"/>
              <a:buNone/>
            </a:pPr>
            <a:r>
              <a:rPr b="1" lang="en-US" sz="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DATA/IA</a:t>
            </a:r>
            <a:endParaRPr i="0" sz="700" u="none" cap="none" strike="noStrike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2E00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9"/>
          <p:cNvSpPr txBox="1"/>
          <p:nvPr/>
        </p:nvSpPr>
        <p:spPr>
          <a:xfrm>
            <a:off x="952805" y="3124505"/>
            <a:ext cx="6477610" cy="1524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Archivo Black"/>
              <a:buNone/>
            </a:pPr>
            <a:r>
              <a:rPr b="0" i="0" lang="en-US" sz="12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MERCI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9"/>
          <p:cNvSpPr/>
          <p:nvPr/>
        </p:nvSpPr>
        <p:spPr>
          <a:xfrm>
            <a:off x="952805" y="5219395"/>
            <a:ext cx="10287000" cy="192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9"/>
          <p:cNvSpPr txBox="1"/>
          <p:nvPr/>
        </p:nvSpPr>
        <p:spPr>
          <a:xfrm>
            <a:off x="10242347" y="6235752"/>
            <a:ext cx="117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2024-2025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7" name="Google Shape;757;p19" title="cybersup-wordmark-blan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9888" y="6240002"/>
            <a:ext cx="1519799" cy="19799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19"/>
          <p:cNvSpPr txBox="1"/>
          <p:nvPr/>
        </p:nvSpPr>
        <p:spPr>
          <a:xfrm>
            <a:off x="1459125" y="6235750"/>
            <a:ext cx="4098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PIPELINE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M2 Big Data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19" title="cybersup-logo-symbole-original-monochrome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073" y="6064542"/>
            <a:ext cx="549625" cy="54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